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3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f2cb577b7d48e9" /><Relationship Type="http://schemas.openxmlformats.org/officeDocument/2006/relationships/extended-properties" Target="/docProps/app.xml" Id="R4a67d409dce140a7" /><Relationship Type="http://schemas.openxmlformats.org/officeDocument/2006/relationships/officeDocument" Target="/ppt/presentation.xml" Id="R9e0325e72cb341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2412648d774327"/>
  </p:sldMasterIdLst>
  <p:notesMasterIdLst>
    <p:notesMasterId xmlns:r="http://schemas.openxmlformats.org/officeDocument/2006/relationships" r:id="Rd2a56f072c314ad3"/>
  </p:notesMasterIdLst>
  <p:sldIdLst>
    <p:sldId xmlns:r="http://schemas.openxmlformats.org/officeDocument/2006/relationships" id="256" r:id="R440476b8e3234b08"/>
    <p:sldId xmlns:r="http://schemas.openxmlformats.org/officeDocument/2006/relationships" id="257" r:id="R64705c9b8885438b"/>
    <p:sldId xmlns:r="http://schemas.openxmlformats.org/officeDocument/2006/relationships" id="258" r:id="Rf08b6c35a81945d8"/>
    <p:sldId xmlns:r="http://schemas.openxmlformats.org/officeDocument/2006/relationships" id="259" r:id="R231adcedff4d4810"/>
    <p:sldId xmlns:r="http://schemas.openxmlformats.org/officeDocument/2006/relationships" id="260" r:id="R56f74d558a364ff8"/>
    <p:sldId xmlns:r="http://schemas.openxmlformats.org/officeDocument/2006/relationships" id="261" r:id="R3c4deb446a83400b"/>
    <p:sldId xmlns:r="http://schemas.openxmlformats.org/officeDocument/2006/relationships" id="262" r:id="Rcab40c6b14af4b4a"/>
    <p:sldId xmlns:r="http://schemas.openxmlformats.org/officeDocument/2006/relationships" id="263" r:id="R846dac94be964c4a"/>
    <p:sldId xmlns:r="http://schemas.openxmlformats.org/officeDocument/2006/relationships" id="264" r:id="Rf17c5c46b8c842b9"/>
    <p:sldId xmlns:r="http://schemas.openxmlformats.org/officeDocument/2006/relationships" id="265" r:id="Rad0be65a69f146ab"/>
    <p:sldId xmlns:r="http://schemas.openxmlformats.org/officeDocument/2006/relationships" id="266" r:id="Rc1bd2a201a4e419f"/>
    <p:sldId xmlns:r="http://schemas.openxmlformats.org/officeDocument/2006/relationships" id="267" r:id="R3a113610964745a7"/>
    <p:sldId xmlns:r="http://schemas.openxmlformats.org/officeDocument/2006/relationships" id="268" r:id="R1b9668da52c44d32"/>
    <p:sldId xmlns:r="http://schemas.openxmlformats.org/officeDocument/2006/relationships" id="269" r:id="R6dba4fe3dc974298"/>
    <p:sldId xmlns:r="http://schemas.openxmlformats.org/officeDocument/2006/relationships" id="270" r:id="Rbe9bd33f0a39468a"/>
    <p:sldId xmlns:r="http://schemas.openxmlformats.org/officeDocument/2006/relationships" id="271" r:id="R26431117fd7d40bb"/>
    <p:sldId xmlns:r="http://schemas.openxmlformats.org/officeDocument/2006/relationships" id="272" r:id="Re35b022fe460468d"/>
    <p:sldId xmlns:r="http://schemas.openxmlformats.org/officeDocument/2006/relationships" id="273" r:id="R0af4ee84d8404b7b"/>
    <p:sldId xmlns:r="http://schemas.openxmlformats.org/officeDocument/2006/relationships" id="274" r:id="R1387d20f8dce440b"/>
    <p:sldId xmlns:r="http://schemas.openxmlformats.org/officeDocument/2006/relationships" id="275" r:id="R851d64c1a04247a8"/>
    <p:sldId xmlns:r="http://schemas.openxmlformats.org/officeDocument/2006/relationships" id="276" r:id="R5bb5a978e98742de"/>
    <p:sldId xmlns:r="http://schemas.openxmlformats.org/officeDocument/2006/relationships" id="277" r:id="Re0e5b3662a304588"/>
    <p:sldId xmlns:r="http://schemas.openxmlformats.org/officeDocument/2006/relationships" id="278" r:id="R9b2406a601074813"/>
    <p:sldId xmlns:r="http://schemas.openxmlformats.org/officeDocument/2006/relationships" id="279" r:id="Rf01769383bc94eba"/>
    <p:sldId xmlns:r="http://schemas.openxmlformats.org/officeDocument/2006/relationships" id="280" r:id="R0949bfab9acd4b0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817e8b07ae4a02" /><Relationship Type="http://schemas.openxmlformats.org/officeDocument/2006/relationships/slideMaster" Target="/ppt/slideMasters/slideMaster1.xml" Id="Rab2412648d774327" /><Relationship Type="http://schemas.openxmlformats.org/officeDocument/2006/relationships/notesMaster" Target="/ppt/notesMasters/notesMaster1.xml" Id="Rd2a56f072c314ad3" /><Relationship Type="http://schemas.openxmlformats.org/officeDocument/2006/relationships/presProps" Target="/ppt/presProps.xml" Id="Rb998b3c920194c4e" /><Relationship Type="http://schemas.openxmlformats.org/officeDocument/2006/relationships/tableStyles" Target="/ppt/tableStyles.xml" Id="Ra47bb06b4fb84eea" /><Relationship Type="http://schemas.openxmlformats.org/officeDocument/2006/relationships/slide" Target="/ppt/slides/slide1.xml" Id="R440476b8e3234b08" /><Relationship Type="http://schemas.openxmlformats.org/officeDocument/2006/relationships/slide" Target="/ppt/slides/slide2.xml" Id="R64705c9b8885438b" /><Relationship Type="http://schemas.openxmlformats.org/officeDocument/2006/relationships/slide" Target="/ppt/slides/slide3.xml" Id="Rf08b6c35a81945d8" /><Relationship Type="http://schemas.openxmlformats.org/officeDocument/2006/relationships/slide" Target="/ppt/slides/slide4.xml" Id="R231adcedff4d4810" /><Relationship Type="http://schemas.openxmlformats.org/officeDocument/2006/relationships/slide" Target="/ppt/slides/slide5.xml" Id="R56f74d558a364ff8" /><Relationship Type="http://schemas.openxmlformats.org/officeDocument/2006/relationships/slide" Target="/ppt/slides/slide6.xml" Id="R3c4deb446a83400b" /><Relationship Type="http://schemas.openxmlformats.org/officeDocument/2006/relationships/slide" Target="/ppt/slides/slide7.xml" Id="Rcab40c6b14af4b4a" /><Relationship Type="http://schemas.openxmlformats.org/officeDocument/2006/relationships/slide" Target="/ppt/slides/slide8.xml" Id="R846dac94be964c4a" /><Relationship Type="http://schemas.openxmlformats.org/officeDocument/2006/relationships/slide" Target="/ppt/slides/slide9.xml" Id="Rf17c5c46b8c842b9" /><Relationship Type="http://schemas.openxmlformats.org/officeDocument/2006/relationships/slide" Target="/ppt/slides/slide10.xml" Id="Rad0be65a69f146ab" /><Relationship Type="http://schemas.openxmlformats.org/officeDocument/2006/relationships/slide" Target="/ppt/slides/slide11.xml" Id="Rc1bd2a201a4e419f" /><Relationship Type="http://schemas.openxmlformats.org/officeDocument/2006/relationships/slide" Target="/ppt/slides/slide12.xml" Id="R3a113610964745a7" /><Relationship Type="http://schemas.openxmlformats.org/officeDocument/2006/relationships/slide" Target="/ppt/slides/slide13.xml" Id="R1b9668da52c44d32" /><Relationship Type="http://schemas.openxmlformats.org/officeDocument/2006/relationships/slide" Target="/ppt/slides/slide14.xml" Id="R6dba4fe3dc974298" /><Relationship Type="http://schemas.openxmlformats.org/officeDocument/2006/relationships/slide" Target="/ppt/slides/slide15.xml" Id="Rbe9bd33f0a39468a" /><Relationship Type="http://schemas.openxmlformats.org/officeDocument/2006/relationships/slide" Target="/ppt/slides/slide16.xml" Id="R26431117fd7d40bb" /><Relationship Type="http://schemas.openxmlformats.org/officeDocument/2006/relationships/slide" Target="/ppt/slides/slide17.xml" Id="Re35b022fe460468d" /><Relationship Type="http://schemas.openxmlformats.org/officeDocument/2006/relationships/slide" Target="/ppt/slides/slide18.xml" Id="R0af4ee84d8404b7b" /><Relationship Type="http://schemas.openxmlformats.org/officeDocument/2006/relationships/slide" Target="/ppt/slides/slide19.xml" Id="R1387d20f8dce440b" /><Relationship Type="http://schemas.openxmlformats.org/officeDocument/2006/relationships/slide" Target="/ppt/slides/slide20.xml" Id="R851d64c1a04247a8" /><Relationship Type="http://schemas.openxmlformats.org/officeDocument/2006/relationships/slide" Target="/ppt/slides/slide21.xml" Id="R5bb5a978e98742de" /><Relationship Type="http://schemas.openxmlformats.org/officeDocument/2006/relationships/slide" Target="/ppt/slides/slide22.xml" Id="Re0e5b3662a304588" /><Relationship Type="http://schemas.openxmlformats.org/officeDocument/2006/relationships/slide" Target="/ppt/slides/slide23.xml" Id="R9b2406a601074813" /><Relationship Type="http://schemas.openxmlformats.org/officeDocument/2006/relationships/slide" Target="/ppt/slides/slide24.xml" Id="Rf01769383bc94eba" /><Relationship Type="http://schemas.openxmlformats.org/officeDocument/2006/relationships/slide" Target="/ppt/slides/slide25.xml" Id="R0949bfab9acd4b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4f78d75d374a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0cdbd59b4b4b41" /><Relationship Type="http://schemas.openxmlformats.org/officeDocument/2006/relationships/notesMaster" Target="/ppt/notesMasters/notesMaster1.xml" Id="R8252b529951c47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e6e4a1375747a2" /><Relationship Type="http://schemas.openxmlformats.org/officeDocument/2006/relationships/notesMaster" Target="/ppt/notesMasters/notesMaster1.xml" Id="R269cc33d7a7d4d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c429af2c0c476d" /><Relationship Type="http://schemas.openxmlformats.org/officeDocument/2006/relationships/notesMaster" Target="/ppt/notesMasters/notesMaster1.xml" Id="Re157c123835544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ba77b1f57e4669" /><Relationship Type="http://schemas.openxmlformats.org/officeDocument/2006/relationships/notesMaster" Target="/ppt/notesMasters/notesMaster1.xml" Id="R639f8a97ee424f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1755978a4e4f7b" /><Relationship Type="http://schemas.openxmlformats.org/officeDocument/2006/relationships/notesMaster" Target="/ppt/notesMasters/notesMaster1.xml" Id="R5807f904238d47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ebacfa9c044e77" /><Relationship Type="http://schemas.openxmlformats.org/officeDocument/2006/relationships/notesMaster" Target="/ppt/notesMasters/notesMaster1.xml" Id="R9126b99cfe1b4b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0bca76ae344ea7" /><Relationship Type="http://schemas.openxmlformats.org/officeDocument/2006/relationships/notesMaster" Target="/ppt/notesMasters/notesMaster1.xml" Id="R55b5e0df304e40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3d09abca6e4c3a" /><Relationship Type="http://schemas.openxmlformats.org/officeDocument/2006/relationships/notesMaster" Target="/ppt/notesMasters/notesMaster1.xml" Id="R4c04924ddb8b4e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be959486c440b0" /><Relationship Type="http://schemas.openxmlformats.org/officeDocument/2006/relationships/notesMaster" Target="/ppt/notesMasters/notesMaster1.xml" Id="Rd69212fb7df542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55e7f9b4b14638" /><Relationship Type="http://schemas.openxmlformats.org/officeDocument/2006/relationships/notesMaster" Target="/ppt/notesMasters/notesMaster1.xml" Id="R9addbb41c8cc47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eb8c83eba74f3a" /><Relationship Type="http://schemas.openxmlformats.org/officeDocument/2006/relationships/notesMaster" Target="/ppt/notesMasters/notesMaster1.xml" Id="Rb54f0611d0c541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6ac03ffff94d88" /><Relationship Type="http://schemas.openxmlformats.org/officeDocument/2006/relationships/notesMaster" Target="/ppt/notesMasters/notesMaster1.xml" Id="R8dc4ae3b235a47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a3413c24394c3f" /><Relationship Type="http://schemas.openxmlformats.org/officeDocument/2006/relationships/notesMaster" Target="/ppt/notesMasters/notesMaster1.xml" Id="Rac653296545b40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bae94d038845bf" /><Relationship Type="http://schemas.openxmlformats.org/officeDocument/2006/relationships/notesMaster" Target="/ppt/notesMasters/notesMaster1.xml" Id="R1ede6225556a441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b17f628dd047a8" /><Relationship Type="http://schemas.openxmlformats.org/officeDocument/2006/relationships/notesMaster" Target="/ppt/notesMasters/notesMaster1.xml" Id="R3f7e2c9e0a3d4f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ff1d5dc85a446b8" /><Relationship Type="http://schemas.openxmlformats.org/officeDocument/2006/relationships/notesMaster" Target="/ppt/notesMasters/notesMaster1.xml" Id="R2219c659106949f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4a35ddb3080483b" /><Relationship Type="http://schemas.openxmlformats.org/officeDocument/2006/relationships/notesMaster" Target="/ppt/notesMasters/notesMaster1.xml" Id="R660de5ab58174dc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0e6b6209154b63" /><Relationship Type="http://schemas.openxmlformats.org/officeDocument/2006/relationships/notesMaster" Target="/ppt/notesMasters/notesMaster1.xml" Id="R9a7682ab08b44c6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1595e574b7a4e00" /><Relationship Type="http://schemas.openxmlformats.org/officeDocument/2006/relationships/notesMaster" Target="/ppt/notesMasters/notesMaster1.xml" Id="R6d7641ab6ef5490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6654205aaab4be1" /><Relationship Type="http://schemas.openxmlformats.org/officeDocument/2006/relationships/notesMaster" Target="/ppt/notesMasters/notesMaster1.xml" Id="R39967f58f60f4e9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32551ac937e4158" /><Relationship Type="http://schemas.openxmlformats.org/officeDocument/2006/relationships/notesMaster" Target="/ppt/notesMasters/notesMaster1.xml" Id="Ra8724533ce3744a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e61bd0b8adf4885" /><Relationship Type="http://schemas.openxmlformats.org/officeDocument/2006/relationships/notesMaster" Target="/ppt/notesMasters/notesMaster1.xml" Id="R0005358fd2d5489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eb48041280e4e33" /><Relationship Type="http://schemas.openxmlformats.org/officeDocument/2006/relationships/notesMaster" Target="/ppt/notesMasters/notesMaster1.xml" Id="R002fcd0730d8481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00966b2ee764aed" /><Relationship Type="http://schemas.openxmlformats.org/officeDocument/2006/relationships/notesMaster" Target="/ppt/notesMasters/notesMaster1.xml" Id="R191c9b1e9bde411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b60bad42b674aa2" /><Relationship Type="http://schemas.openxmlformats.org/officeDocument/2006/relationships/notesMaster" Target="/ppt/notesMasters/notesMaster1.xml" Id="R518bcddc9a054e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 principal do manual. Duplique e substitua subtítulo, empresa e autora.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esta página como índice visual do manual. O deck corporativo deve percorrer os quatro verbos.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DNA verbal. Use as referência para títulos conclusivos e linguagem sem jargão ornamental.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use todas as cores no mesmo slide. Papel + tinta formam a base; vermelho conduz a leitura.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Evite reduzir fonte para fazer o conteúdo caber. Troque a composição ou corte 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de alinhamento. Mantenha margens laterais simétricas e uma única composição dominante.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editável de assinatura temporal. Não repita a curva como decoração em todos os slides.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Checklist de visualização. Use como página de consulta e remova do deck final do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de capa A: use quando a apresentação precisa abrir com uma tese forte.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de capa B: use quando escopo e contrato do forecast já ajudam a vender a proposta.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Divisória de seção. Use número, título curto e uma frase que prepare a próxima etapa.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de contexto: formule o problema como decisão, não como tarefa de modelagem.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para escopo. Substitua os quatro campos pelos termos oficiais do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Jornada ponta a ponta. Conecte cada estágio a um usuário e uma decisão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de auditoria. Preserve a coluna de risco residual; tratamento não significa ausência de limitação.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de features. Agrupe por função e explicite a disciplina temporal para evitar vazamento.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Valores ilustrativos. Substitua pelo backtesting oficial e compare também estabilidade, bias e custo.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Valores ilustrativos. Use janelas móveis reais e inclua dispersão por horizonte quando disponível.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Valores ilustrativos. Use este layout somente quando houver evidência para cada nível de impacto.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Mapa ilustrativo de demanda. Substitua pontos pelos dados reais ou pela imagem exportada do dashboard.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Syntetos, Boylan &amp; Croston (2005), https://doi.org/10.1057/palgrave.jors.2601841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Valores ilustrativos. Use ranking global ou explicação local por SKU/data, sempre com ressalva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de consumo. Responda usuário, frequência, canal, integração e decisão suportada.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progressivo. GenAI entra após fundação, monitoramento e consumo estarem definidos.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Encerramento com síntese, não com agradecimento genérico. Resolva a tensão aberta na capa.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Última página do manual. Copie métricas, callouts, rótulos e placeholders para os layouts anteriores.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C1D visual system; illustrative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8082931b884e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61f6be4ca74fcd" /><Relationship Type="http://schemas.openxmlformats.org/officeDocument/2006/relationships/slideLayout" Target="/ppt/slideLayouts/slideLayout1.xml" Id="Rf189eac029ce46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89eac029ce46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361f0edda490f" /><Relationship Type="http://schemas.openxmlformats.org/officeDocument/2006/relationships/notesSlide" Target="/ppt/notesSlides/notesSlide1.xml" Id="R2bf787a0b3944a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ab4d0529c4f1c" /><Relationship Type="http://schemas.openxmlformats.org/officeDocument/2006/relationships/notesSlide" Target="/ppt/notesSlides/notesSlide2.xml" Id="Ra45ac6ebef0d4b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0e710324049af" /><Relationship Type="http://schemas.openxmlformats.org/officeDocument/2006/relationships/notesSlide" Target="/ppt/notesSlides/notesSlide3.xml" Id="R30f942a511ee49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957de1f17409b" /><Relationship Type="http://schemas.openxmlformats.org/officeDocument/2006/relationships/notesSlide" Target="/ppt/notesSlides/notesSlide4.xml" Id="R418a19ec80684e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aaf96bd7743cb" /><Relationship Type="http://schemas.openxmlformats.org/officeDocument/2006/relationships/notesSlide" Target="/ppt/notesSlides/notesSlide5.xml" Id="R78e3d96d22f145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44ceb7dff4948" /><Relationship Type="http://schemas.openxmlformats.org/officeDocument/2006/relationships/notesSlide" Target="/ppt/notesSlides/notesSlide6.xml" Id="Rf5c2c1c0e1864f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d3f8b986d4f7f" /><Relationship Type="http://schemas.openxmlformats.org/officeDocument/2006/relationships/chart" Target="/ppt/slides/charts/chart1.xml" Id="Re37066c0132848eb" /><Relationship Type="http://schemas.openxmlformats.org/officeDocument/2006/relationships/notesSlide" Target="/ppt/notesSlides/notesSlide7.xml" Id="Re5e7abde145f47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36116f3ea4dd4" /><Relationship Type="http://schemas.openxmlformats.org/officeDocument/2006/relationships/notesSlide" Target="/ppt/notesSlides/notesSlide8.xml" Id="Rd0d85e4c80ef44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587680e03482a" /><Relationship Type="http://schemas.openxmlformats.org/officeDocument/2006/relationships/notesSlide" Target="/ppt/notesSlides/notesSlide9.xml" Id="R9a84f646b19049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8d3f350974283" /><Relationship Type="http://schemas.openxmlformats.org/officeDocument/2006/relationships/notesSlide" Target="/ppt/notesSlides/notesSlide10.xml" Id="R4053f329df2747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ca11e0dd3419b" /><Relationship Type="http://schemas.openxmlformats.org/officeDocument/2006/relationships/notesSlide" Target="/ppt/notesSlides/notesSlide11.xml" Id="R3a5d4638f5ea41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086d0bb9d474c" /><Relationship Type="http://schemas.openxmlformats.org/officeDocument/2006/relationships/notesSlide" Target="/ppt/notesSlides/notesSlide12.xml" Id="R7cc6dc1b54af4f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6ce99ee864e7f" /><Relationship Type="http://schemas.openxmlformats.org/officeDocument/2006/relationships/notesSlide" Target="/ppt/notesSlides/notesSlide13.xml" Id="Rfa80c673fa3441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efbbac25e4400" /><Relationship Type="http://schemas.openxmlformats.org/officeDocument/2006/relationships/notesSlide" Target="/ppt/notesSlides/notesSlide14.xml" Id="R0dd488ab3a5e43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1bf011a4a4c48" /><Relationship Type="http://schemas.openxmlformats.org/officeDocument/2006/relationships/notesSlide" Target="/ppt/notesSlides/notesSlide15.xml" Id="R3155f89683ac4a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cd75e3f284505" /><Relationship Type="http://schemas.openxmlformats.org/officeDocument/2006/relationships/notesSlide" Target="/ppt/notesSlides/notesSlide16.xml" Id="R81a2761b42da467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fb5d34cea4c22" /><Relationship Type="http://schemas.openxmlformats.org/officeDocument/2006/relationships/chart" Target="/ppt/slides/charts/chart2.xml" Id="Ra5a1737491ce4b5c" /><Relationship Type="http://schemas.openxmlformats.org/officeDocument/2006/relationships/notesSlide" Target="/ppt/notesSlides/notesSlide17.xml" Id="Rfe4df0a868334c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a0bfc66494013" /><Relationship Type="http://schemas.openxmlformats.org/officeDocument/2006/relationships/chart" Target="/ppt/slides/charts/chart3.xml" Id="R545d8b287fa24be0" /><Relationship Type="http://schemas.openxmlformats.org/officeDocument/2006/relationships/notesSlide" Target="/ppt/notesSlides/notesSlide18.xml" Id="R8ddc6a5067ff4b1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8fe08fef84f1e" /><Relationship Type="http://schemas.openxmlformats.org/officeDocument/2006/relationships/notesSlide" Target="/ppt/notesSlides/notesSlide19.xml" Id="Racc54d643e644a9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4bb82cb504eb3" /><Relationship Type="http://schemas.openxmlformats.org/officeDocument/2006/relationships/notesSlide" Target="/ppt/notesSlides/notesSlide20.xml" Id="R774d3452ed784b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7ab9e66084be2" /><Relationship Type="http://schemas.openxmlformats.org/officeDocument/2006/relationships/notesSlide" Target="/ppt/notesSlides/notesSlide21.xml" Id="Rd55aad6e449349a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33f96e46b4577" /><Relationship Type="http://schemas.openxmlformats.org/officeDocument/2006/relationships/notesSlide" Target="/ppt/notesSlides/notesSlide22.xml" Id="R59ed35d4e06146d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9f2b410814e55" /><Relationship Type="http://schemas.openxmlformats.org/officeDocument/2006/relationships/notesSlide" Target="/ppt/notesSlides/notesSlide23.xml" Id="R2400d2718f5f42b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0c9b2b1ba464e" /><Relationship Type="http://schemas.openxmlformats.org/officeDocument/2006/relationships/notesSlide" Target="/ppt/notesSlides/notesSlide24.xml" Id="R8dd4c363e9b64d5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ddda4562a405e" /><Relationship Type="http://schemas.openxmlformats.org/officeDocument/2006/relationships/notesSlide" Target="/ppt/notesSlides/notesSlide25.xml" Id="R5cd2ca7ca7b54a1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Realizado</c:v>
          </c:tx>
          <c:spPr>
            <a:solidFill xmlns:a="http://schemas.openxmlformats.org/drawingml/2006/main">
              <a:srgbClr val="171612"/>
            </a:solidFill>
          </c:spPr>
          <c:marker>
            <c:symbol val="none"/>
          </c:marker>
          <c:cat>
            <c:strLit>
              <c:ptCount val="10"/>
              <c:pt idx="0">
                <c:v>S1</c:v>
              </c:pt>
              <c:pt idx="1">
                <c:v>S2</c:v>
              </c:pt>
              <c:pt idx="2">
                <c:v>S3</c:v>
              </c:pt>
              <c:pt idx="3">
                <c:v>S4</c:v>
              </c:pt>
              <c:pt idx="4">
                <c:v>S5</c:v>
              </c:pt>
              <c:pt idx="5">
                <c:v>S6</c:v>
              </c:pt>
              <c:pt idx="6">
                <c:v>S7</c:v>
              </c:pt>
              <c:pt idx="7">
                <c:v>S8</c:v>
              </c:pt>
              <c:pt idx="8">
                <c:v>S9</c:v>
              </c:pt>
              <c:pt idx="9">
                <c:v>S10</c:v>
              </c:pt>
            </c:strLit>
          </c:cat>
          <c:val>
            <c:numLit>
              <c:formatCode>General</c:formatCode>
              <c:ptCount val="10"/>
              <c:pt idx="0">
                <c:v>34</c:v>
              </c:pt>
              <c:pt idx="1">
                <c:v>38</c:v>
              </c:pt>
              <c:pt idx="2">
                <c:v>36</c:v>
              </c:pt>
              <c:pt idx="3">
                <c:v>48</c:v>
              </c:pt>
              <c:pt idx="4">
                <c:v>45</c:v>
              </c:pt>
              <c:pt idx="5">
                <c:v>57</c:v>
              </c:pt>
              <c:pt idx="6">
                <c:v>53</c:v>
              </c:pt>
              <c:pt idx="7">
                <c:v>64</c:v>
              </c:pt>
              <c:pt idx="8">
                <c:v>59</c:v>
              </c:pt>
              <c:pt idx="9">
                <c:v>70</c:v>
              </c:pt>
            </c:numLit>
          </c:val>
        </c:ser>
        <c:ser>
          <c:idx val="1"/>
          <c:order val="1"/>
          <c:tx>
            <c:v>Forecast</c:v>
          </c:tx>
          <c:spPr>
            <a:solidFill xmlns:a="http://schemas.openxmlformats.org/drawingml/2006/main">
              <a:srgbClr val="A43A2B"/>
            </a:solidFill>
          </c:spPr>
          <c:marker>
            <c:symbol val="none"/>
          </c:marker>
          <c:cat>
            <c:strLit>
              <c:ptCount val="10"/>
              <c:pt idx="0">
                <c:v>S1</c:v>
              </c:pt>
              <c:pt idx="1">
                <c:v>S2</c:v>
              </c:pt>
              <c:pt idx="2">
                <c:v>S3</c:v>
              </c:pt>
              <c:pt idx="3">
                <c:v>S4</c:v>
              </c:pt>
              <c:pt idx="4">
                <c:v>S5</c:v>
              </c:pt>
              <c:pt idx="5">
                <c:v>S6</c:v>
              </c:pt>
              <c:pt idx="6">
                <c:v>S7</c:v>
              </c:pt>
              <c:pt idx="7">
                <c:v>S8</c:v>
              </c:pt>
              <c:pt idx="8">
                <c:v>S9</c:v>
              </c:pt>
              <c:pt idx="9">
                <c:v>S10</c:v>
              </c:pt>
            </c:strLit>
          </c:cat>
          <c:val>
            <c:numLit>
              <c:formatCode>General</c:formatCode>
              <c:ptCount val="10"/>
              <c:pt idx="0">
                <c:v>33</c:v>
              </c:pt>
              <c:pt idx="1">
                <c:v>37</c:v>
              </c:pt>
              <c:pt idx="2">
                <c:v>39</c:v>
              </c:pt>
              <c:pt idx="3">
                <c:v>46</c:v>
              </c:pt>
              <c:pt idx="4">
                <c:v>48</c:v>
              </c:pt>
              <c:pt idx="5">
                <c:v>55</c:v>
              </c:pt>
              <c:pt idx="6">
                <c:v>56</c:v>
              </c:pt>
              <c:pt idx="7">
                <c:v>61</c:v>
              </c:pt>
              <c:pt idx="8">
                <c:v>64</c:v>
              </c:pt>
              <c:pt idx="9">
                <c:v>68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5C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WMAPE</c:v>
          </c:tx>
          <c:spPr>
            <a:solidFill xmlns:a="http://schemas.openxmlformats.org/drawingml/2006/main">
              <a:srgbClr val="A43A2B"/>
            </a:solidFill>
          </c:spPr>
          <c:cat>
            <c:strLit>
              <c:ptCount val="4"/>
              <c:pt idx="0">
                <c:v>Baseline</c:v>
              </c:pt>
              <c:pt idx="1">
                <c:v>LightGBM</c:v>
              </c:pt>
              <c:pt idx="2">
                <c:v>CatBoost</c:v>
              </c:pt>
              <c:pt idx="3">
                <c:v>Reconciliado</c:v>
              </c:pt>
            </c:strLit>
          </c:cat>
          <c:val>
            <c:numLit>
              <c:formatCode>General</c:formatCode>
              <c:ptCount val="4"/>
              <c:pt idx="0">
                <c:v>14.2</c:v>
              </c:pt>
              <c:pt idx="1">
                <c:v>8.4</c:v>
              </c:pt>
              <c:pt idx="2">
                <c:v>8.9</c:v>
              </c:pt>
              <c:pt idx="3">
                <c:v>7.8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5C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LightGBM</c:v>
          </c:tx>
          <c:spPr>
            <a:solidFill xmlns:a="http://schemas.openxmlformats.org/drawingml/2006/main">
              <a:srgbClr val="A43A2B"/>
            </a:solidFill>
          </c:spPr>
          <c:marker>
            <c:symbol val="none"/>
          </c:marker>
          <c:cat>
            <c:strLit>
              <c:ptCount val="8"/>
              <c:pt idx="0">
                <c:v>J1</c:v>
              </c:pt>
              <c:pt idx="1">
                <c:v>J2</c:v>
              </c:pt>
              <c:pt idx="2">
                <c:v>J3</c:v>
              </c:pt>
              <c:pt idx="3">
                <c:v>J4</c:v>
              </c:pt>
              <c:pt idx="4">
                <c:v>J5</c:v>
              </c:pt>
              <c:pt idx="5">
                <c:v>J6</c:v>
              </c:pt>
              <c:pt idx="6">
                <c:v>J7</c:v>
              </c:pt>
              <c:pt idx="7">
                <c:v>J8</c:v>
              </c:pt>
            </c:strLit>
          </c:cat>
          <c:val>
            <c:numLit>
              <c:formatCode>General</c:formatCode>
              <c:ptCount val="8"/>
              <c:pt idx="0">
                <c:v>9.2</c:v>
              </c:pt>
              <c:pt idx="1">
                <c:v>8.8</c:v>
              </c:pt>
              <c:pt idx="2">
                <c:v>8.5</c:v>
              </c:pt>
              <c:pt idx="3">
                <c:v>9</c:v>
              </c:pt>
              <c:pt idx="4">
                <c:v>8.2</c:v>
              </c:pt>
              <c:pt idx="5">
                <c:v>8.4</c:v>
              </c:pt>
              <c:pt idx="6">
                <c:v>8.1</c:v>
              </c:pt>
              <c:pt idx="7">
                <c:v>8.3</c:v>
              </c:pt>
            </c:numLit>
          </c:val>
        </c:ser>
        <c:ser>
          <c:idx val="1"/>
          <c:order val="1"/>
          <c:tx>
            <c:v>CatBoost</c:v>
          </c:tx>
          <c:spPr>
            <a:solidFill xmlns:a="http://schemas.openxmlformats.org/drawingml/2006/main">
              <a:srgbClr val="D3A329"/>
            </a:solidFill>
          </c:spPr>
          <c:marker>
            <c:symbol val="none"/>
          </c:marker>
          <c:cat>
            <c:strLit>
              <c:ptCount val="8"/>
              <c:pt idx="0">
                <c:v>J1</c:v>
              </c:pt>
              <c:pt idx="1">
                <c:v>J2</c:v>
              </c:pt>
              <c:pt idx="2">
                <c:v>J3</c:v>
              </c:pt>
              <c:pt idx="3">
                <c:v>J4</c:v>
              </c:pt>
              <c:pt idx="4">
                <c:v>J5</c:v>
              </c:pt>
              <c:pt idx="5">
                <c:v>J6</c:v>
              </c:pt>
              <c:pt idx="6">
                <c:v>J7</c:v>
              </c:pt>
              <c:pt idx="7">
                <c:v>J8</c:v>
              </c:pt>
            </c:strLit>
          </c:cat>
          <c:val>
            <c:numLit>
              <c:formatCode>General</c:formatCode>
              <c:ptCount val="8"/>
              <c:pt idx="0">
                <c:v>9.8</c:v>
              </c:pt>
              <c:pt idx="1">
                <c:v>8.6</c:v>
              </c:pt>
              <c:pt idx="2">
                <c:v>8.7</c:v>
              </c:pt>
              <c:pt idx="3">
                <c:v>8.5</c:v>
              </c:pt>
              <c:pt idx="4">
                <c:v>8.9</c:v>
              </c:pt>
              <c:pt idx="5">
                <c:v>8.2</c:v>
              </c:pt>
              <c:pt idx="6">
                <c:v>8.4</c:v>
              </c:pt>
              <c:pt idx="7">
                <c:v>8.6</c:v>
              </c:pt>
            </c:numLit>
          </c:val>
        </c:ser>
        <c:ser>
          <c:idx val="2"/>
          <c:order val="2"/>
          <c:tx>
            <c:v>Baseline</c:v>
          </c:tx>
          <c:spPr>
            <a:solidFill xmlns:a="http://schemas.openxmlformats.org/drawingml/2006/main">
              <a:srgbClr val="656057"/>
            </a:solidFill>
          </c:spPr>
          <c:marker>
            <c:symbol val="none"/>
          </c:marker>
          <c:cat>
            <c:strLit>
              <c:ptCount val="8"/>
              <c:pt idx="0">
                <c:v>J1</c:v>
              </c:pt>
              <c:pt idx="1">
                <c:v>J2</c:v>
              </c:pt>
              <c:pt idx="2">
                <c:v>J3</c:v>
              </c:pt>
              <c:pt idx="3">
                <c:v>J4</c:v>
              </c:pt>
              <c:pt idx="4">
                <c:v>J5</c:v>
              </c:pt>
              <c:pt idx="5">
                <c:v>J6</c:v>
              </c:pt>
              <c:pt idx="6">
                <c:v>J7</c:v>
              </c:pt>
              <c:pt idx="7">
                <c:v>J8</c:v>
              </c:pt>
            </c:strLit>
          </c:cat>
          <c:val>
            <c:numLit>
              <c:formatCode>General</c:formatCode>
              <c:ptCount val="8"/>
              <c:pt idx="0">
                <c:v>14</c:v>
              </c:pt>
              <c:pt idx="1">
                <c:v>13.8</c:v>
              </c:pt>
              <c:pt idx="2">
                <c:v>14.5</c:v>
              </c:pt>
              <c:pt idx="3">
                <c:v>14.1</c:v>
              </c:pt>
              <c:pt idx="4">
                <c:v>13.6</c:v>
              </c:pt>
              <c:pt idx="5">
                <c:v>14.2</c:v>
              </c:pt>
              <c:pt idx="6">
                <c:v>13.9</c:v>
              </c:pt>
              <c:pt idx="7">
                <c:v>14.3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5C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rand">
            <a:extLst xmlns:a="http://schemas.openxmlformats.org/drawingml/2006/main">
              <a:ext uri="{FF2B5EF4-FFF2-40B4-BE49-F238E27FC236}">
                <a16:creationId xmlns:a16="http://schemas.microsoft.com/office/drawing/2014/main" id="{CDB975C7-1883-4999-847E-25878BD5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cover-arrow">
            <a:extLst xmlns:a="http://schemas.openxmlformats.org/drawingml/2006/main">
              <a:ext uri="{FF2B5EF4-FFF2-40B4-BE49-F238E27FC236}">
                <a16:creationId xmlns:a16="http://schemas.microsoft.com/office/drawing/2014/main" id="{852862A3-F0CF-456D-8D5A-DDB39DFF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960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A43A2B"/>
                </a:solidFill>
              </a:defRPr>
            </a:pPr>
            <a:r>
              <a:rPr sz="18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cover-lab">
            <a:extLst xmlns:a="http://schemas.openxmlformats.org/drawingml/2006/main">
              <a:ext uri="{FF2B5EF4-FFF2-40B4-BE49-F238E27FC236}">
                <a16:creationId xmlns:a16="http://schemas.microsoft.com/office/drawing/2014/main" id="{2B138FD8-2ABF-4914-BECF-5C5A986B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66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43A2B"/>
                </a:solidFill>
              </a:defRPr>
            </a:pPr>
            <a:r>
              <a:rPr sz="1275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C491DE11-B95B-43DA-AF9A-D6C6C56D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F5F4C6E-F4EF-4B5C-8178-7E91DA95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71612"/>
                </a:solidFill>
              </a:defRPr>
            </a:pPr>
            <a:r>
              <a:rPr sz="3900" b="0" i="0">
                <a:solidFill>
                  <a:srgbClr val="171612"/>
                </a:solidFill>
              </a:rPr>
              <a:t>Manual visual</a:t>
            </a:r>
          </a:p>
          <a:p xmlns:a="http://schemas.openxmlformats.org/drawingml/2006/main">
            <a:pPr algn="l">
              <a:defRPr sz="3900" b="0" i="0">
                <a:solidFill>
                  <a:srgbClr val="171612"/>
                </a:solidFill>
              </a:defRPr>
            </a:pPr>
            <a:r>
              <a:rPr sz="3900" b="0" i="0">
                <a:solidFill>
                  <a:srgbClr val="171612"/>
                </a:solidFill>
              </a:rPr>
              <a:t>para decisões antecipadas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70CC931-8E0A-4D4A-B658-3D87694A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6057"/>
                </a:solidFill>
              </a:defRPr>
            </a:pPr>
            <a:r>
              <a:rPr sz="1350" b="0" i="0">
                <a:solidFill>
                  <a:srgbClr val="656057"/>
                </a:solidFill>
              </a:rPr>
              <a:t>Layouts corporativos editáveis para apresentações de Forecast</a:t>
            </a:r>
          </a:p>
        </p:txBody>
      </p:sp>
      <p:sp>
        <p:nvSpPr>
          <p:cNvPr id="7" name="cover-band">
            <a:extLst xmlns:a="http://schemas.openxmlformats.org/drawingml/2006/main">
              <a:ext uri="{FF2B5EF4-FFF2-40B4-BE49-F238E27FC236}">
                <a16:creationId xmlns:a16="http://schemas.microsoft.com/office/drawing/2014/main" id="{53D7A2A5-27DB-4AD5-8669-D92CBAF9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71650"/>
            <a:ext cx="2381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band-text">
            <a:extLst xmlns:a="http://schemas.openxmlformats.org/drawingml/2006/main">
              <a:ext uri="{FF2B5EF4-FFF2-40B4-BE49-F238E27FC236}">
                <a16:creationId xmlns:a16="http://schemas.microsoft.com/office/drawing/2014/main" id="{07CA37CD-BE71-4E1F-9895-317BB729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16573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1EBDC"/>
                </a:solidFill>
              </a:defRPr>
            </a:pPr>
            <a:r>
              <a:rPr sz="1650" b="1" i="0">
                <a:solidFill>
                  <a:srgbClr val="F1EBDC"/>
                </a:solidFill>
              </a:rPr>
              <a:t>DADOS</a:t>
            </a:r>
          </a:p>
          <a:p xmlns:a="http://schemas.openxmlformats.org/drawingml/2006/main">
            <a:pPr algn="ctr">
              <a:defRPr sz="1650" b="1" i="0">
                <a:solidFill>
                  <a:srgbClr val="F1EBDC"/>
                </a:solidFill>
              </a:defRPr>
            </a:pPr>
            <a:r>
              <a:rPr sz="1650" b="1" i="0">
                <a:solidFill>
                  <a:srgbClr val="F1EBDC"/>
                </a:solidFill>
              </a:rPr>
              <a:t>→</a:t>
            </a:r>
          </a:p>
          <a:p xmlns:a="http://schemas.openxmlformats.org/drawingml/2006/main">
            <a:pPr algn="ctr">
              <a:defRPr sz="1650" b="1" i="0">
                <a:solidFill>
                  <a:srgbClr val="F1EBDC"/>
                </a:solidFill>
              </a:defRPr>
            </a:pPr>
            <a:r>
              <a:rPr sz="1650" b="1" i="0">
                <a:solidFill>
                  <a:srgbClr val="F1EBDC"/>
                </a:solidFill>
              </a:rPr>
              <a:t>EVIDÊNCIA</a:t>
            </a:r>
          </a:p>
          <a:p xmlns:a="http://schemas.openxmlformats.org/drawingml/2006/main">
            <a:pPr algn="ctr">
              <a:defRPr sz="1650" b="1" i="0">
                <a:solidFill>
                  <a:srgbClr val="F1EBDC"/>
                </a:solidFill>
              </a:defRPr>
            </a:pPr>
            <a:r>
              <a:rPr sz="1650" b="1" i="0">
                <a:solidFill>
                  <a:srgbClr val="F1EBDC"/>
                </a:solidFill>
              </a:rPr>
              <a:t>→</a:t>
            </a:r>
          </a:p>
          <a:p xmlns:a="http://schemas.openxmlformats.org/drawingml/2006/main">
            <a:pPr algn="ctr">
              <a:defRPr sz="1650" b="1" i="0">
                <a:solidFill>
                  <a:srgbClr val="F1EBDC"/>
                </a:solidFill>
              </a:defRPr>
            </a:pPr>
            <a:r>
              <a:rPr sz="1650" b="1" i="0">
                <a:solidFill>
                  <a:srgbClr val="F1EBDC"/>
                </a:solidFill>
              </a:rPr>
              <a:t>DECISÃO</a:t>
            </a:r>
          </a:p>
        </p:txBody>
      </p:sp>
      <p:sp>
        <p:nvSpPr>
          <p:cNvPr id="9" name="cover-meta">
            <a:extLst xmlns:a="http://schemas.openxmlformats.org/drawingml/2006/main">
              <a:ext uri="{FF2B5EF4-FFF2-40B4-BE49-F238E27FC236}">
                <a16:creationId xmlns:a16="http://schemas.microsoft.com/office/drawing/2014/main" id="{FD907DF3-C9BF-445B-9302-31A5BFB1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CASE TÉCNICO · GRUPO BOTICÁRIO</a:t>
            </a:r>
          </a:p>
          <a:p xmlns:a="http://schemas.openxmlformats.org/drawingml/2006/main">
            <a:pPr algn="l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CHEILA BETINA SCHILLING DOS SANTOS</a:t>
            </a:r>
          </a:p>
        </p:txBody>
      </p:sp>
    </p:spTree>
    <p:extLst>
      <p:ext uri="{BB962C8B-B14F-4D97-AF65-F5344CB8AC3E}">
        <p14:creationId xmlns:p14="http://schemas.microsoft.com/office/powerpoint/2010/main" val="20502377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5598211E-48C4-4D85-80E3-4C7E48EC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EB3BA4F8-8537-4C98-84B5-44B821FE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9466AF22-D451-46FE-8A1C-B1F8CD30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B238152C-3FA9-463D-A7E9-31BA7E3C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MANUAL · COMO USAR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2AD3F49-580F-4DFF-89C9-D04988E3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02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9380B711-5793-43B4-AF79-EA2578CA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66FE598-EDC7-416F-A449-A30526CF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A08DEE6-B609-4282-A9B1-EB038D93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86173148-4A34-46CA-87EC-EB366FBF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COMO USAR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497FBBF9-7C78-406A-85F9-C0AC5293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Um sistema, não um template rígido</a:t>
            </a:r>
          </a:p>
        </p:txBody>
      </p:sp>
      <p:sp>
        <p:nvSpPr>
          <p:cNvPr id="11" name="subtitle">
            <a:extLst xmlns:a="http://schemas.openxmlformats.org/drawingml/2006/main">
              <a:ext uri="{FF2B5EF4-FFF2-40B4-BE49-F238E27FC236}">
                <a16:creationId xmlns:a16="http://schemas.microsoft.com/office/drawing/2014/main" id="{79DE3387-573D-49DF-A569-0C116119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56057"/>
                </a:solidFill>
              </a:defRPr>
            </a:pPr>
            <a:r>
              <a:rPr sz="1425" b="0" i="0">
                <a:solidFill>
                  <a:srgbClr val="656057"/>
                </a:solidFill>
              </a:rPr>
              <a:t>Escolha o layout pelo papel narrativo do slide.</a:t>
            </a:r>
          </a:p>
        </p:txBody>
      </p:sp>
      <p:sp>
        <p:nvSpPr>
          <p:cNvPr id="12" name="phase-rule-0">
            <a:extLst xmlns:a="http://schemas.openxmlformats.org/drawingml/2006/main">
              <a:ext uri="{FF2B5EF4-FFF2-40B4-BE49-F238E27FC236}">
                <a16:creationId xmlns:a16="http://schemas.microsoft.com/office/drawing/2014/main" id="{81CEB260-0B1D-4459-B2D6-D19A7F8C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612"/>
            </a:solidFill>
            <a:prstDash val="solid"/>
          </a:ln>
        </p:spPr>
      </p:sp>
      <p:sp>
        <p:nvSpPr>
          <p:cNvPr id="13" name="phase-num-0">
            <a:extLst xmlns:a="http://schemas.openxmlformats.org/drawingml/2006/main">
              <a:ext uri="{FF2B5EF4-FFF2-40B4-BE49-F238E27FC236}">
                <a16:creationId xmlns:a16="http://schemas.microsoft.com/office/drawing/2014/main" id="{E2ECB0B0-AD79-4CAE-ADEA-47BAFF30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56057"/>
                </a:solidFill>
              </a:defRPr>
            </a:pPr>
            <a:r>
              <a:rPr sz="975" b="1" i="0">
                <a:solidFill>
                  <a:srgbClr val="656057"/>
                </a:solidFill>
              </a:rPr>
              <a:t>01</a:t>
            </a:r>
          </a:p>
        </p:txBody>
      </p:sp>
      <p:sp>
        <p:nvSpPr>
          <p:cNvPr id="14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A5C5C4F8-D1EF-40AB-9FFC-1DD8C0A4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Abrir</a:t>
            </a:r>
          </a:p>
        </p:txBody>
      </p:sp>
      <p:sp>
        <p:nvSpPr>
          <p:cNvPr id="15" name="phase-copy-0">
            <a:extLst xmlns:a="http://schemas.openxmlformats.org/drawingml/2006/main">
              <a:ext uri="{FF2B5EF4-FFF2-40B4-BE49-F238E27FC236}">
                <a16:creationId xmlns:a16="http://schemas.microsoft.com/office/drawing/2014/main" id="{7F4DF5D0-BA22-46F8-8AED-A90E8376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6057"/>
                </a:solidFill>
              </a:defRPr>
            </a:pPr>
            <a:r>
              <a:rPr sz="1275" b="0" i="0">
                <a:solidFill>
                  <a:srgbClr val="656057"/>
                </a:solidFill>
              </a:rPr>
              <a:t>tensão e contexto</a:t>
            </a:r>
          </a:p>
        </p:txBody>
      </p:sp>
      <p:sp>
        <p:nvSpPr>
          <p:cNvPr id="16" name="phase-rule-1">
            <a:extLst xmlns:a="http://schemas.openxmlformats.org/drawingml/2006/main">
              <a:ext uri="{FF2B5EF4-FFF2-40B4-BE49-F238E27FC236}">
                <a16:creationId xmlns:a16="http://schemas.microsoft.com/office/drawing/2014/main" id="{7FF5448C-F62A-4336-AE1D-0AD148EA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432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612"/>
            </a:solidFill>
            <a:prstDash val="solid"/>
          </a:ln>
        </p:spPr>
      </p:sp>
      <p:sp>
        <p:nvSpPr>
          <p:cNvPr id="17" name="phase-num-1">
            <a:extLst xmlns:a="http://schemas.openxmlformats.org/drawingml/2006/main">
              <a:ext uri="{FF2B5EF4-FFF2-40B4-BE49-F238E27FC236}">
                <a16:creationId xmlns:a16="http://schemas.microsoft.com/office/drawing/2014/main" id="{9475D9D0-09C0-4DA2-B0F2-E5A68808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3375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56057"/>
                </a:solidFill>
              </a:defRPr>
            </a:pPr>
            <a:r>
              <a:rPr sz="975" b="1" i="0">
                <a:solidFill>
                  <a:srgbClr val="656057"/>
                </a:solidFill>
              </a:rPr>
              <a:t>02</a:t>
            </a:r>
          </a:p>
        </p:txBody>
      </p:sp>
      <p:sp>
        <p:nvSpPr>
          <p:cNvPr id="18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2F4A1936-CA58-45D4-84AF-6B527631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52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Explicar</a:t>
            </a:r>
          </a:p>
        </p:txBody>
      </p:sp>
      <p:sp>
        <p:nvSpPr>
          <p:cNvPr id="19" name="phase-copy-1">
            <a:extLst xmlns:a="http://schemas.openxmlformats.org/drawingml/2006/main">
              <a:ext uri="{FF2B5EF4-FFF2-40B4-BE49-F238E27FC236}">
                <a16:creationId xmlns:a16="http://schemas.microsoft.com/office/drawing/2014/main" id="{1914A5C9-7E43-4F2A-A330-04C3DAA1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05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6057"/>
                </a:solidFill>
              </a:defRPr>
            </a:pPr>
            <a:r>
              <a:rPr sz="1275" b="0" i="0">
                <a:solidFill>
                  <a:srgbClr val="656057"/>
                </a:solidFill>
              </a:rPr>
              <a:t>método e escolhas</a:t>
            </a:r>
          </a:p>
        </p:txBody>
      </p:sp>
      <p:sp>
        <p:nvSpPr>
          <p:cNvPr id="20" name="phase-rule-2">
            <a:extLst xmlns:a="http://schemas.openxmlformats.org/drawingml/2006/main">
              <a:ext uri="{FF2B5EF4-FFF2-40B4-BE49-F238E27FC236}">
                <a16:creationId xmlns:a16="http://schemas.microsoft.com/office/drawing/2014/main" id="{EB827638-6DB4-4308-8D7C-24C3C5C3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432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3A2B"/>
            </a:solidFill>
            <a:prstDash val="solid"/>
          </a:ln>
        </p:spPr>
      </p:sp>
      <p:sp>
        <p:nvSpPr>
          <p:cNvPr id="21" name="phase-num-2">
            <a:extLst xmlns:a="http://schemas.openxmlformats.org/drawingml/2006/main">
              <a:ext uri="{FF2B5EF4-FFF2-40B4-BE49-F238E27FC236}">
                <a16:creationId xmlns:a16="http://schemas.microsoft.com/office/drawing/2014/main" id="{0778F8EB-0F5D-49E8-8510-45D31B9E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56057"/>
                </a:solidFill>
              </a:defRPr>
            </a:pPr>
            <a:r>
              <a:rPr sz="975" b="1" i="0">
                <a:solidFill>
                  <a:srgbClr val="656057"/>
                </a:solidFill>
              </a:rPr>
              <a:t>03</a:t>
            </a:r>
          </a:p>
        </p:txBody>
      </p:sp>
      <p:sp>
        <p:nvSpPr>
          <p:cNvPr id="22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4950D996-9630-4146-95F9-43157BA1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52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A43A2B"/>
                </a:solidFill>
              </a:defRPr>
            </a:pPr>
            <a:r>
              <a:rPr sz="2100" b="0" i="0">
                <a:solidFill>
                  <a:srgbClr val="A43A2B"/>
                </a:solidFill>
              </a:rPr>
              <a:t>Demonstrar</a:t>
            </a:r>
          </a:p>
        </p:txBody>
      </p:sp>
      <p:sp>
        <p:nvSpPr>
          <p:cNvPr id="23" name="phase-copy-2">
            <a:extLst xmlns:a="http://schemas.openxmlformats.org/drawingml/2006/main">
              <a:ext uri="{FF2B5EF4-FFF2-40B4-BE49-F238E27FC236}">
                <a16:creationId xmlns:a16="http://schemas.microsoft.com/office/drawing/2014/main" id="{3532AF91-11D7-49F0-BE7A-70F12B93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05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6057"/>
                </a:solidFill>
              </a:defRPr>
            </a:pPr>
            <a:r>
              <a:rPr sz="1275" b="0" i="0">
                <a:solidFill>
                  <a:srgbClr val="656057"/>
                </a:solidFill>
              </a:rPr>
              <a:t>evidência e impacto</a:t>
            </a:r>
          </a:p>
        </p:txBody>
      </p:sp>
      <p:sp>
        <p:nvSpPr>
          <p:cNvPr id="24" name="phase-rule-3">
            <a:extLst xmlns:a="http://schemas.openxmlformats.org/drawingml/2006/main">
              <a:ext uri="{FF2B5EF4-FFF2-40B4-BE49-F238E27FC236}">
                <a16:creationId xmlns:a16="http://schemas.microsoft.com/office/drawing/2014/main" id="{22C15BCA-2279-43DA-90F8-DC86EE43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432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612"/>
            </a:solidFill>
            <a:prstDash val="solid"/>
          </a:ln>
        </p:spPr>
      </p:sp>
      <p:sp>
        <p:nvSpPr>
          <p:cNvPr id="25" name="phase-num-3">
            <a:extLst xmlns:a="http://schemas.openxmlformats.org/drawingml/2006/main">
              <a:ext uri="{FF2B5EF4-FFF2-40B4-BE49-F238E27FC236}">
                <a16:creationId xmlns:a16="http://schemas.microsoft.com/office/drawing/2014/main" id="{C1FF3166-0F3E-4AD5-ABA7-1E8FAF85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3375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56057"/>
                </a:solidFill>
              </a:defRPr>
            </a:pPr>
            <a:r>
              <a:rPr sz="975" b="1" i="0">
                <a:solidFill>
                  <a:srgbClr val="656057"/>
                </a:solidFill>
              </a:rPr>
              <a:t>04</a:t>
            </a:r>
          </a:p>
        </p:txBody>
      </p:sp>
      <p:sp>
        <p:nvSpPr>
          <p:cNvPr id="26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B2652BBC-D47E-4230-974B-343714A8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52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Concluir</a:t>
            </a:r>
          </a:p>
        </p:txBody>
      </p:sp>
      <p:sp>
        <p:nvSpPr>
          <p:cNvPr id="27" name="phase-copy-3">
            <a:extLst xmlns:a="http://schemas.openxmlformats.org/drawingml/2006/main">
              <a:ext uri="{FF2B5EF4-FFF2-40B4-BE49-F238E27FC236}">
                <a16:creationId xmlns:a16="http://schemas.microsoft.com/office/drawing/2014/main" id="{FEEAAEAF-7FF3-40BD-9E53-FBFE759F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05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6057"/>
                </a:solidFill>
              </a:defRPr>
            </a:pPr>
            <a:r>
              <a:rPr sz="1275" b="0" i="0">
                <a:solidFill>
                  <a:srgbClr val="656057"/>
                </a:solidFill>
              </a:rPr>
              <a:t>síntese e futuro</a:t>
            </a:r>
          </a:p>
        </p:txBody>
      </p:sp>
    </p:spTree>
    <p:extLst>
      <p:ext uri="{BB962C8B-B14F-4D97-AF65-F5344CB8AC3E}">
        <p14:creationId xmlns:p14="http://schemas.microsoft.com/office/powerpoint/2010/main" val="21401515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C91F3BDA-36AA-47E0-AAA4-C9E8900C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FC1B097A-BA3C-4C49-AFF3-0283A432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59CCC974-6BB2-4079-8D87-BE9745D0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ED7DE45A-337E-4A7B-A4AF-F9738487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MANUAL · IDENTIDADE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44DD43F-C58C-48D5-86D7-6574E1C8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03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B92A88EB-6376-49FC-98D0-DCB4049D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E870DE1-C39F-43EA-9AB6-705028AE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8123235-4506-4EC7-A979-EC6FB36E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9322FD14-6CBA-483F-8E1C-BC31DB4C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IDEIA CENTRAL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C92331DD-0A11-4328-8A4C-AE8236B0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Compreender os dados é uma forma de participar</a:t>
            </a:r>
          </a:p>
        </p:txBody>
      </p:sp>
      <p:sp>
        <p:nvSpPr>
          <p:cNvPr id="11" name="subtitle">
            <a:extLst xmlns:a="http://schemas.openxmlformats.org/drawingml/2006/main">
              <a:ext uri="{FF2B5EF4-FFF2-40B4-BE49-F238E27FC236}">
                <a16:creationId xmlns:a16="http://schemas.microsoft.com/office/drawing/2014/main" id="{825F303D-34F4-4008-B8D8-669304A2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56057"/>
                </a:solidFill>
              </a:defRPr>
            </a:pPr>
            <a:r>
              <a:rPr sz="1425" b="0" i="0">
                <a:solidFill>
                  <a:srgbClr val="656057"/>
                </a:solidFill>
              </a:rPr>
              <a:t>A marca combina rigor analítico, linguagem editorial e direção prática.</a:t>
            </a:r>
          </a:p>
        </p:txBody>
      </p:sp>
      <p:sp>
        <p:nvSpPr>
          <p:cNvPr id="12" name="dna-0">
            <a:extLst xmlns:a="http://schemas.openxmlformats.org/drawingml/2006/main">
              <a:ext uri="{FF2B5EF4-FFF2-40B4-BE49-F238E27FC236}">
                <a16:creationId xmlns:a16="http://schemas.microsoft.com/office/drawing/2014/main" id="{488A1878-1A08-481B-AE7B-FB929992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612"/>
                </a:solidFill>
              </a:defRPr>
            </a:pPr>
            <a:r>
              <a:rPr sz="1650" b="1" i="0">
                <a:solidFill>
                  <a:srgbClr val="171612"/>
                </a:solidFill>
              </a:rPr>
              <a:t>COMPREENDER</a:t>
            </a:r>
          </a:p>
        </p:txBody>
      </p:sp>
      <p:sp>
        <p:nvSpPr>
          <p:cNvPr id="13" name="dna-copy-0">
            <a:extLst xmlns:a="http://schemas.openxmlformats.org/drawingml/2006/main">
              <a:ext uri="{FF2B5EF4-FFF2-40B4-BE49-F238E27FC236}">
                <a16:creationId xmlns:a16="http://schemas.microsoft.com/office/drawing/2014/main" id="{28F06E11-BF59-4EE4-BEE9-A92FEAB1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718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56057"/>
                </a:solidFill>
              </a:defRPr>
            </a:pPr>
            <a:r>
              <a:rPr sz="1500" b="0" i="0">
                <a:solidFill>
                  <a:srgbClr val="656057"/>
                </a:solidFill>
              </a:rPr>
              <a:t>clareza antes da técnica</a:t>
            </a:r>
          </a:p>
        </p:txBody>
      </p:sp>
      <p:sp>
        <p:nvSpPr>
          <p:cNvPr id="14" name="dna-line-0">
            <a:extLst xmlns:a="http://schemas.openxmlformats.org/drawingml/2006/main">
              <a:ext uri="{FF2B5EF4-FFF2-40B4-BE49-F238E27FC236}">
                <a16:creationId xmlns:a16="http://schemas.microsoft.com/office/drawing/2014/main" id="{6C687D10-C105-449A-A419-CC189042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5" name="dna-1">
            <a:extLst xmlns:a="http://schemas.openxmlformats.org/drawingml/2006/main">
              <a:ext uri="{FF2B5EF4-FFF2-40B4-BE49-F238E27FC236}">
                <a16:creationId xmlns:a16="http://schemas.microsoft.com/office/drawing/2014/main" id="{B5CBE8B9-B1B4-43FB-80E0-C3F6552A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43A2B"/>
                </a:solidFill>
              </a:defRPr>
            </a:pPr>
            <a:r>
              <a:rPr sz="1650" b="1" i="0">
                <a:solidFill>
                  <a:srgbClr val="A43A2B"/>
                </a:solidFill>
              </a:rPr>
              <a:t>EVIDENCIAR</a:t>
            </a:r>
          </a:p>
        </p:txBody>
      </p:sp>
      <p:sp>
        <p:nvSpPr>
          <p:cNvPr id="16" name="dna-copy-1">
            <a:extLst xmlns:a="http://schemas.openxmlformats.org/drawingml/2006/main">
              <a:ext uri="{FF2B5EF4-FFF2-40B4-BE49-F238E27FC236}">
                <a16:creationId xmlns:a16="http://schemas.microsoft.com/office/drawing/2014/main" id="{365168BE-1FE2-430A-B2CE-3383F3AE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671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56057"/>
                </a:solidFill>
              </a:defRPr>
            </a:pPr>
            <a:r>
              <a:rPr sz="1500" b="0" i="0">
                <a:solidFill>
                  <a:srgbClr val="656057"/>
                </a:solidFill>
              </a:rPr>
              <a:t>mostrar o que sustenta a decisão</a:t>
            </a:r>
          </a:p>
        </p:txBody>
      </p:sp>
      <p:sp>
        <p:nvSpPr>
          <p:cNvPr id="17" name="dna-line-1">
            <a:extLst xmlns:a="http://schemas.openxmlformats.org/drawingml/2006/main">
              <a:ext uri="{FF2B5EF4-FFF2-40B4-BE49-F238E27FC236}">
                <a16:creationId xmlns:a16="http://schemas.microsoft.com/office/drawing/2014/main" id="{1ACC88A9-2C16-4BD9-A358-639352C4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8" name="dna-2">
            <a:extLst xmlns:a="http://schemas.openxmlformats.org/drawingml/2006/main">
              <a:ext uri="{FF2B5EF4-FFF2-40B4-BE49-F238E27FC236}">
                <a16:creationId xmlns:a16="http://schemas.microsoft.com/office/drawing/2014/main" id="{8BBD60DD-552A-4A4E-AA1A-5B7C7A89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3A329"/>
                </a:solidFill>
              </a:defRPr>
            </a:pPr>
            <a:r>
              <a:rPr sz="1650" b="1" i="0">
                <a:solidFill>
                  <a:srgbClr val="D3A329"/>
                </a:solidFill>
              </a:rPr>
              <a:t>ANTECIPAR</a:t>
            </a:r>
          </a:p>
        </p:txBody>
      </p:sp>
      <p:sp>
        <p:nvSpPr>
          <p:cNvPr id="19" name="dna-copy-2">
            <a:extLst xmlns:a="http://schemas.openxmlformats.org/drawingml/2006/main">
              <a:ext uri="{FF2B5EF4-FFF2-40B4-BE49-F238E27FC236}">
                <a16:creationId xmlns:a16="http://schemas.microsoft.com/office/drawing/2014/main" id="{34805AE3-448C-4794-8098-91392BDA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56057"/>
                </a:solidFill>
              </a:defRPr>
            </a:pPr>
            <a:r>
              <a:rPr sz="1500" b="0" i="0">
                <a:solidFill>
                  <a:srgbClr val="656057"/>
                </a:solidFill>
              </a:rPr>
              <a:t>transformar incerteza em ação</a:t>
            </a:r>
          </a:p>
        </p:txBody>
      </p:sp>
      <p:sp>
        <p:nvSpPr>
          <p:cNvPr id="20" name="dna-line-2">
            <a:extLst xmlns:a="http://schemas.openxmlformats.org/drawingml/2006/main">
              <a:ext uri="{FF2B5EF4-FFF2-40B4-BE49-F238E27FC236}">
                <a16:creationId xmlns:a16="http://schemas.microsoft.com/office/drawing/2014/main" id="{18288F59-C880-47D3-ABA7-FBF6B21C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21" name="participation-mark">
            <a:extLst xmlns:a="http://schemas.openxmlformats.org/drawingml/2006/main">
              <a:ext uri="{FF2B5EF4-FFF2-40B4-BE49-F238E27FC236}">
                <a16:creationId xmlns:a16="http://schemas.microsoft.com/office/drawing/2014/main" id="{25FA76BD-B687-4A0A-8F0C-3F311022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05125"/>
            <a:ext cx="10668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rticipation-word">
            <a:extLst xmlns:a="http://schemas.openxmlformats.org/drawingml/2006/main">
              <a:ext uri="{FF2B5EF4-FFF2-40B4-BE49-F238E27FC236}">
                <a16:creationId xmlns:a16="http://schemas.microsoft.com/office/drawing/2014/main" id="{881F004B-27D8-4E91-B98F-62891183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171825"/>
            <a:ext cx="60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F1EBDC"/>
                </a:solidFill>
              </a:defRPr>
            </a:pPr>
            <a:r>
              <a:rPr sz="2850" b="0" i="0">
                <a:solidFill>
                  <a:srgbClr val="F1EBDC"/>
                </a:solidFill>
              </a:rPr>
              <a:t>C</a:t>
            </a:r>
          </a:p>
          <a:p xmlns:a="http://schemas.openxmlformats.org/drawingml/2006/main">
            <a:pPr algn="ctr">
              <a:defRPr sz="2850" b="0" i="0">
                <a:solidFill>
                  <a:srgbClr val="F1EBDC"/>
                </a:solidFill>
              </a:defRPr>
            </a:pPr>
            <a:r>
              <a:rPr sz="2850" b="0" i="0">
                <a:solidFill>
                  <a:srgbClr val="F1EBDC"/>
                </a:solidFill>
              </a:rPr>
              <a:t>1</a:t>
            </a:r>
          </a:p>
          <a:p xmlns:a="http://schemas.openxmlformats.org/drawingml/2006/main">
            <a:pPr algn="ctr">
              <a:defRPr sz="2850" b="0" i="0">
                <a:solidFill>
                  <a:srgbClr val="F1EBDC"/>
                </a:solidFill>
              </a:defRPr>
            </a:pPr>
            <a:r>
              <a:rPr sz="2850" b="0" i="0">
                <a:solidFill>
                  <a:srgbClr val="F1EBDC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8662143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91A2FD6B-173D-4453-87EB-13604117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AE614C8C-E937-4825-B7FF-E369889D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EA8C1B6A-7C00-406F-A688-D8C626A6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27E815D8-EFF6-405B-9949-A4F08EAA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MANUAL · CORES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31487AB-B5C2-4EE9-8B85-86BFD345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04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30A98A5D-1DEE-4629-B9D3-5F1A7DC8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D6DF181-DA5A-4F60-AD69-1861C883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7C82158-46B9-4C6E-B32C-2BEF58FA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BB5A1449-CE05-429B-8DB7-FACF8309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PALETA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792D4A15-4DF4-4B78-909E-EF000B04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Cada cor tem uma função, não apenas uma aparência</a:t>
            </a:r>
          </a:p>
        </p:txBody>
      </p:sp>
      <p:sp>
        <p:nvSpPr>
          <p:cNvPr id="11" name="swatch-0">
            <a:extLst xmlns:a="http://schemas.openxmlformats.org/drawingml/2006/main">
              <a:ext uri="{FF2B5EF4-FFF2-40B4-BE49-F238E27FC236}">
                <a16:creationId xmlns:a16="http://schemas.microsoft.com/office/drawing/2014/main" id="{40338610-5C38-43B5-8E1E-89F9887F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watch-name-0">
            <a:extLst xmlns:a="http://schemas.openxmlformats.org/drawingml/2006/main">
              <a:ext uri="{FF2B5EF4-FFF2-40B4-BE49-F238E27FC236}">
                <a16:creationId xmlns:a16="http://schemas.microsoft.com/office/drawing/2014/main" id="{33B9A332-C50A-4F80-8CB9-6E64B4BA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1612"/>
                </a:solidFill>
              </a:defRPr>
            </a:pPr>
            <a:r>
              <a:rPr sz="900" b="1" i="0">
                <a:solidFill>
                  <a:srgbClr val="171612"/>
                </a:solidFill>
              </a:rPr>
              <a:t>PAPEL</a:t>
            </a:r>
          </a:p>
        </p:txBody>
      </p:sp>
      <p:sp>
        <p:nvSpPr>
          <p:cNvPr id="13" name="swatch-hex-0">
            <a:extLst xmlns:a="http://schemas.openxmlformats.org/drawingml/2006/main">
              <a:ext uri="{FF2B5EF4-FFF2-40B4-BE49-F238E27FC236}">
                <a16:creationId xmlns:a16="http://schemas.microsoft.com/office/drawing/2014/main" id="{00077118-AFEB-46E9-BFB7-A2AD26E3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47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171612"/>
                </a:solidFill>
              </a:defRPr>
            </a:pPr>
            <a:r>
              <a:rPr sz="825" b="0" i="0">
                <a:solidFill>
                  <a:srgbClr val="171612"/>
                </a:solidFill>
              </a:rPr>
              <a:t>#F1EBDC</a:t>
            </a:r>
          </a:p>
        </p:txBody>
      </p:sp>
      <p:sp>
        <p:nvSpPr>
          <p:cNvPr id="14" name="swatch-use-0">
            <a:extLst xmlns:a="http://schemas.openxmlformats.org/drawingml/2006/main">
              <a:ext uri="{FF2B5EF4-FFF2-40B4-BE49-F238E27FC236}">
                <a16:creationId xmlns:a16="http://schemas.microsoft.com/office/drawing/2014/main" id="{9042C150-C4A6-4BBB-99B3-1F5EEC46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6057"/>
                </a:solidFill>
              </a:defRPr>
            </a:pPr>
            <a:r>
              <a:rPr sz="1275" b="0" i="0">
                <a:solidFill>
                  <a:srgbClr val="656057"/>
                </a:solidFill>
              </a:rPr>
              <a:t>base e respiro</a:t>
            </a:r>
          </a:p>
        </p:txBody>
      </p:sp>
      <p:sp>
        <p:nvSpPr>
          <p:cNvPr id="15" name="swatch-1">
            <a:extLst xmlns:a="http://schemas.openxmlformats.org/drawingml/2006/main">
              <a:ext uri="{FF2B5EF4-FFF2-40B4-BE49-F238E27FC236}">
                <a16:creationId xmlns:a16="http://schemas.microsoft.com/office/drawing/2014/main" id="{5F2DE281-4754-4BBE-8F68-9D466F10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watch-name-1">
            <a:extLst xmlns:a="http://schemas.openxmlformats.org/drawingml/2006/main">
              <a:ext uri="{FF2B5EF4-FFF2-40B4-BE49-F238E27FC236}">
                <a16:creationId xmlns:a16="http://schemas.microsoft.com/office/drawing/2014/main" id="{154E5F27-6545-4D41-B64B-BDB709C9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EBDC"/>
                </a:solidFill>
              </a:defRPr>
            </a:pPr>
            <a:r>
              <a:rPr sz="900" b="1" i="0">
                <a:solidFill>
                  <a:srgbClr val="F1EBDC"/>
                </a:solidFill>
              </a:rPr>
              <a:t>TINTA</a:t>
            </a:r>
          </a:p>
        </p:txBody>
      </p:sp>
      <p:sp>
        <p:nvSpPr>
          <p:cNvPr id="17" name="swatch-hex-1">
            <a:extLst xmlns:a="http://schemas.openxmlformats.org/drawingml/2006/main">
              <a:ext uri="{FF2B5EF4-FFF2-40B4-BE49-F238E27FC236}">
                <a16:creationId xmlns:a16="http://schemas.microsoft.com/office/drawing/2014/main" id="{D5CC4C40-98B0-47A0-9FAF-20648997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47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F1EBDC"/>
                </a:solidFill>
              </a:defRPr>
            </a:pPr>
            <a:r>
              <a:rPr sz="825" b="0" i="0">
                <a:solidFill>
                  <a:srgbClr val="F1EBDC"/>
                </a:solidFill>
              </a:rPr>
              <a:t>#171612</a:t>
            </a:r>
          </a:p>
        </p:txBody>
      </p:sp>
      <p:sp>
        <p:nvSpPr>
          <p:cNvPr id="18" name="swatch-use-1">
            <a:extLst xmlns:a="http://schemas.openxmlformats.org/drawingml/2006/main">
              <a:ext uri="{FF2B5EF4-FFF2-40B4-BE49-F238E27FC236}">
                <a16:creationId xmlns:a16="http://schemas.microsoft.com/office/drawing/2014/main" id="{AC846F87-8773-4016-B2AB-680E1BE6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6057"/>
                </a:solidFill>
              </a:defRPr>
            </a:pPr>
            <a:r>
              <a:rPr sz="1275" b="0" i="0">
                <a:solidFill>
                  <a:srgbClr val="656057"/>
                </a:solidFill>
              </a:rPr>
              <a:t>estrutura e texto</a:t>
            </a:r>
          </a:p>
        </p:txBody>
      </p:sp>
      <p:sp>
        <p:nvSpPr>
          <p:cNvPr id="19" name="swatch-2">
            <a:extLst xmlns:a="http://schemas.openxmlformats.org/drawingml/2006/main">
              <a:ext uri="{FF2B5EF4-FFF2-40B4-BE49-F238E27FC236}">
                <a16:creationId xmlns:a16="http://schemas.microsoft.com/office/drawing/2014/main" id="{75EF1C83-B097-48BA-A2DE-F17CEFD2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watch-name-2">
            <a:extLst xmlns:a="http://schemas.openxmlformats.org/drawingml/2006/main">
              <a:ext uri="{FF2B5EF4-FFF2-40B4-BE49-F238E27FC236}">
                <a16:creationId xmlns:a16="http://schemas.microsoft.com/office/drawing/2014/main" id="{81B2D80C-9211-4209-AD16-07CE3C07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479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EBDC"/>
                </a:solidFill>
              </a:defRPr>
            </a:pPr>
            <a:r>
              <a:rPr sz="900" b="1" i="0">
                <a:solidFill>
                  <a:srgbClr val="F1EBDC"/>
                </a:solidFill>
              </a:rPr>
              <a:t>VERMELHO</a:t>
            </a:r>
          </a:p>
        </p:txBody>
      </p:sp>
      <p:sp>
        <p:nvSpPr>
          <p:cNvPr id="21" name="swatch-hex-2">
            <a:extLst xmlns:a="http://schemas.openxmlformats.org/drawingml/2006/main">
              <a:ext uri="{FF2B5EF4-FFF2-40B4-BE49-F238E27FC236}">
                <a16:creationId xmlns:a16="http://schemas.microsoft.com/office/drawing/2014/main" id="{334A6BA2-6D2B-4FEC-97B0-08FE7229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47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F1EBDC"/>
                </a:solidFill>
              </a:defRPr>
            </a:pPr>
            <a:r>
              <a:rPr sz="825" b="0" i="0">
                <a:solidFill>
                  <a:srgbClr val="F1EBDC"/>
                </a:solidFill>
              </a:rPr>
              <a:t>#A43A2B</a:t>
            </a:r>
          </a:p>
        </p:txBody>
      </p:sp>
      <p:sp>
        <p:nvSpPr>
          <p:cNvPr id="22" name="swatch-use-2">
            <a:extLst xmlns:a="http://schemas.openxmlformats.org/drawingml/2006/main">
              <a:ext uri="{FF2B5EF4-FFF2-40B4-BE49-F238E27FC236}">
                <a16:creationId xmlns:a16="http://schemas.microsoft.com/office/drawing/2014/main" id="{D1EFE9EB-F9B6-4D18-83B8-CF7E0AB1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19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6057"/>
                </a:solidFill>
              </a:defRPr>
            </a:pPr>
            <a:r>
              <a:rPr sz="1275" b="0" i="0">
                <a:solidFill>
                  <a:srgbClr val="656057"/>
                </a:solidFill>
              </a:rPr>
              <a:t>evidência e tensão</a:t>
            </a:r>
          </a:p>
        </p:txBody>
      </p:sp>
      <p:sp>
        <p:nvSpPr>
          <p:cNvPr id="23" name="swatch-3">
            <a:extLst xmlns:a="http://schemas.openxmlformats.org/drawingml/2006/main">
              <a:ext uri="{FF2B5EF4-FFF2-40B4-BE49-F238E27FC236}">
                <a16:creationId xmlns:a16="http://schemas.microsoft.com/office/drawing/2014/main" id="{BF118ED2-46D4-4F69-929E-F2055B57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watch-name-3">
            <a:extLst xmlns:a="http://schemas.openxmlformats.org/drawingml/2006/main">
              <a:ext uri="{FF2B5EF4-FFF2-40B4-BE49-F238E27FC236}">
                <a16:creationId xmlns:a16="http://schemas.microsoft.com/office/drawing/2014/main" id="{5D84AA9F-D508-4666-AEA0-A8B40019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1612"/>
                </a:solidFill>
              </a:defRPr>
            </a:pPr>
            <a:r>
              <a:rPr sz="900" b="1" i="0">
                <a:solidFill>
                  <a:srgbClr val="171612"/>
                </a:solidFill>
              </a:rPr>
              <a:t>MOSTARDA</a:t>
            </a:r>
          </a:p>
        </p:txBody>
      </p:sp>
      <p:sp>
        <p:nvSpPr>
          <p:cNvPr id="25" name="swatch-hex-3">
            <a:extLst xmlns:a="http://schemas.openxmlformats.org/drawingml/2006/main">
              <a:ext uri="{FF2B5EF4-FFF2-40B4-BE49-F238E27FC236}">
                <a16:creationId xmlns:a16="http://schemas.microsoft.com/office/drawing/2014/main" id="{3F7FE304-CBA6-4673-B473-D8AE1B45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624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171612"/>
                </a:solidFill>
              </a:defRPr>
            </a:pPr>
            <a:r>
              <a:rPr sz="825" b="0" i="0">
                <a:solidFill>
                  <a:srgbClr val="171612"/>
                </a:solidFill>
              </a:rPr>
              <a:t>#D3A329</a:t>
            </a:r>
          </a:p>
        </p:txBody>
      </p:sp>
      <p:sp>
        <p:nvSpPr>
          <p:cNvPr id="26" name="swatch-use-3">
            <a:extLst xmlns:a="http://schemas.openxmlformats.org/drawingml/2006/main">
              <a:ext uri="{FF2B5EF4-FFF2-40B4-BE49-F238E27FC236}">
                <a16:creationId xmlns:a16="http://schemas.microsoft.com/office/drawing/2014/main" id="{125DAEEB-98A3-4518-82BC-584517D1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6057"/>
                </a:solidFill>
              </a:defRPr>
            </a:pPr>
            <a:r>
              <a:rPr sz="1275" b="0" i="0">
                <a:solidFill>
                  <a:srgbClr val="656057"/>
                </a:solidFill>
              </a:rPr>
              <a:t>atenção e incerteza</a:t>
            </a:r>
          </a:p>
        </p:txBody>
      </p:sp>
      <p:sp>
        <p:nvSpPr>
          <p:cNvPr id="27" name="swatch-4">
            <a:extLst xmlns:a="http://schemas.openxmlformats.org/drawingml/2006/main">
              <a:ext uri="{FF2B5EF4-FFF2-40B4-BE49-F238E27FC236}">
                <a16:creationId xmlns:a16="http://schemas.microsoft.com/office/drawing/2014/main" id="{F4CB9C66-BCC2-4D7B-97E3-0BE7B157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10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60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watch-name-4">
            <a:extLst xmlns:a="http://schemas.openxmlformats.org/drawingml/2006/main">
              <a:ext uri="{FF2B5EF4-FFF2-40B4-BE49-F238E27FC236}">
                <a16:creationId xmlns:a16="http://schemas.microsoft.com/office/drawing/2014/main" id="{E4AA464E-5477-4F87-9C67-9B177BD1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624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EBDC"/>
                </a:solidFill>
              </a:defRPr>
            </a:pPr>
            <a:r>
              <a:rPr sz="900" b="1" i="0">
                <a:solidFill>
                  <a:srgbClr val="F1EBDC"/>
                </a:solidFill>
              </a:rPr>
              <a:t>CINZA</a:t>
            </a:r>
          </a:p>
        </p:txBody>
      </p:sp>
      <p:sp>
        <p:nvSpPr>
          <p:cNvPr id="29" name="swatch-hex-4">
            <a:extLst xmlns:a="http://schemas.openxmlformats.org/drawingml/2006/main">
              <a:ext uri="{FF2B5EF4-FFF2-40B4-BE49-F238E27FC236}">
                <a16:creationId xmlns:a16="http://schemas.microsoft.com/office/drawing/2014/main" id="{B15692ED-417F-4465-A454-F63976E8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624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F1EBDC"/>
                </a:solidFill>
              </a:defRPr>
            </a:pPr>
            <a:r>
              <a:rPr sz="825" b="0" i="0">
                <a:solidFill>
                  <a:srgbClr val="F1EBDC"/>
                </a:solidFill>
              </a:rPr>
              <a:t>#656057</a:t>
            </a:r>
          </a:p>
        </p:txBody>
      </p:sp>
      <p:sp>
        <p:nvSpPr>
          <p:cNvPr id="30" name="swatch-use-4">
            <a:extLst xmlns:a="http://schemas.openxmlformats.org/drawingml/2006/main">
              <a:ext uri="{FF2B5EF4-FFF2-40B4-BE49-F238E27FC236}">
                <a16:creationId xmlns:a16="http://schemas.microsoft.com/office/drawing/2014/main" id="{0C137F2C-5B08-4B26-ACCA-FCD177D8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6057"/>
                </a:solidFill>
              </a:defRPr>
            </a:pPr>
            <a:r>
              <a:rPr sz="1275" b="0" i="0">
                <a:solidFill>
                  <a:srgbClr val="656057"/>
                </a:solidFill>
              </a:rPr>
              <a:t>contexto secundário</a:t>
            </a:r>
          </a:p>
        </p:txBody>
      </p:sp>
      <p:sp>
        <p:nvSpPr>
          <p:cNvPr id="31" name="swatch-5">
            <a:extLst xmlns:a="http://schemas.openxmlformats.org/drawingml/2006/main">
              <a:ext uri="{FF2B5EF4-FFF2-40B4-BE49-F238E27FC236}">
                <a16:creationId xmlns:a16="http://schemas.microsoft.com/office/drawing/2014/main" id="{7C03B5F2-08DC-4A98-894E-B0E47D85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910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watch-name-5">
            <a:extLst xmlns:a="http://schemas.openxmlformats.org/drawingml/2006/main">
              <a:ext uri="{FF2B5EF4-FFF2-40B4-BE49-F238E27FC236}">
                <a16:creationId xmlns:a16="http://schemas.microsoft.com/office/drawing/2014/main" id="{26917779-8F8F-4012-8634-664E7275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624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EBDC"/>
                </a:solidFill>
              </a:defRPr>
            </a:pPr>
            <a:r>
              <a:rPr sz="900" b="1" i="0">
                <a:solidFill>
                  <a:srgbClr val="F1EBDC"/>
                </a:solidFill>
              </a:rPr>
              <a:t>PARCEIRO</a:t>
            </a:r>
          </a:p>
        </p:txBody>
      </p:sp>
      <p:sp>
        <p:nvSpPr>
          <p:cNvPr id="33" name="swatch-hex-5">
            <a:extLst xmlns:a="http://schemas.openxmlformats.org/drawingml/2006/main">
              <a:ext uri="{FF2B5EF4-FFF2-40B4-BE49-F238E27FC236}">
                <a16:creationId xmlns:a16="http://schemas.microsoft.com/office/drawing/2014/main" id="{6845854E-C480-4B26-93E5-DA5CC2D3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3624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F1EBDC"/>
                </a:solidFill>
              </a:defRPr>
            </a:pPr>
            <a:r>
              <a:rPr sz="825" b="0" i="0">
                <a:solidFill>
                  <a:srgbClr val="F1EBDC"/>
                </a:solidFill>
              </a:rPr>
              <a:t>#356A54</a:t>
            </a:r>
          </a:p>
        </p:txBody>
      </p:sp>
      <p:sp>
        <p:nvSpPr>
          <p:cNvPr id="34" name="swatch-use-5">
            <a:extLst xmlns:a="http://schemas.openxmlformats.org/drawingml/2006/main">
              <a:ext uri="{FF2B5EF4-FFF2-40B4-BE49-F238E27FC236}">
                <a16:creationId xmlns:a16="http://schemas.microsoft.com/office/drawing/2014/main" id="{D6BAD7B5-A96B-4B74-B26A-FDE6C781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34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6057"/>
                </a:solidFill>
              </a:defRPr>
            </a:pPr>
            <a:r>
              <a:rPr sz="1275" b="0" i="0">
                <a:solidFill>
                  <a:srgbClr val="656057"/>
                </a:solidFill>
              </a:rPr>
              <a:t>acento opcional</a:t>
            </a:r>
          </a:p>
        </p:txBody>
      </p:sp>
    </p:spTree>
    <p:extLst>
      <p:ext uri="{BB962C8B-B14F-4D97-AF65-F5344CB8AC3E}">
        <p14:creationId xmlns:p14="http://schemas.microsoft.com/office/powerpoint/2010/main" val="12122746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10AE5C3F-99F7-49F4-B710-89FED257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452EEC05-A06E-4CAF-9FAD-8D0A6E4A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9C08DBEB-19CB-4D2E-80E0-2EDB4C21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C09295C3-A83A-40D0-AAD8-3754DA2D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MANUAL · TIPOGRAFIA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A4D7898-68D9-4BBD-813C-60A2C394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05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FAEA29A6-D94E-4919-AFF0-03EB5008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3972165-80D4-4623-AAD4-6199908D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FD7AB84-BA67-418F-8853-4622A794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B5A779C8-68FC-47AE-8DA0-17B88818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TIPOGRAFIA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7BBA49FA-3E4B-4DDE-AB7C-97FCB11F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Editorial para a tese; funcional para a evidência</a:t>
            </a:r>
          </a:p>
        </p:txBody>
      </p:sp>
      <p:sp>
        <p:nvSpPr>
          <p:cNvPr id="11" name="type-display">
            <a:extLst xmlns:a="http://schemas.openxmlformats.org/drawingml/2006/main">
              <a:ext uri="{FF2B5EF4-FFF2-40B4-BE49-F238E27FC236}">
                <a16:creationId xmlns:a16="http://schemas.microsoft.com/office/drawing/2014/main" id="{08507253-D0EA-4C9C-8535-896C9DDD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61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0" i="0">
                <a:solidFill>
                  <a:srgbClr val="171612"/>
                </a:solidFill>
              </a:defRPr>
            </a:pPr>
            <a:r>
              <a:rPr sz="3450" b="0" i="0">
                <a:solidFill>
                  <a:srgbClr val="171612"/>
                </a:solidFill>
              </a:rPr>
              <a:t>Forecast como</a:t>
            </a:r>
          </a:p>
          <a:p xmlns:a="http://schemas.openxmlformats.org/drawingml/2006/main">
            <a:pPr algn="l">
              <a:defRPr sz="3450" b="0" i="0">
                <a:solidFill>
                  <a:srgbClr val="171612"/>
                </a:solidFill>
              </a:defRPr>
            </a:pPr>
            <a:r>
              <a:rPr sz="3450" b="0" i="0">
                <a:solidFill>
                  <a:srgbClr val="171612"/>
                </a:solidFill>
              </a:rPr>
              <a:t>produto de decisão</a:t>
            </a:r>
          </a:p>
        </p:txBody>
      </p:sp>
      <p:sp>
        <p:nvSpPr>
          <p:cNvPr id="12" name="label-Georgia · títulos-72-462">
            <a:extLst xmlns:a="http://schemas.openxmlformats.org/drawingml/2006/main">
              <a:ext uri="{FF2B5EF4-FFF2-40B4-BE49-F238E27FC236}">
                <a16:creationId xmlns:a16="http://schemas.microsoft.com/office/drawing/2014/main" id="{519DC6AD-07CE-4966-939E-2B03CD51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43A2B"/>
                </a:solidFill>
              </a:defRPr>
            </a:pPr>
            <a:r>
              <a:rPr sz="825" b="1" i="0">
                <a:solidFill>
                  <a:srgbClr val="A43A2B"/>
                </a:solidFill>
              </a:rPr>
              <a:t>GEORGIA · TÍTULOS</a:t>
            </a:r>
          </a:p>
        </p:txBody>
      </p:sp>
      <p:sp>
        <p:nvSpPr>
          <p:cNvPr id="13" name="type-body">
            <a:extLst xmlns:a="http://schemas.openxmlformats.org/drawingml/2006/main">
              <a:ext uri="{FF2B5EF4-FFF2-40B4-BE49-F238E27FC236}">
                <a16:creationId xmlns:a16="http://schemas.microsoft.com/office/drawing/2014/main" id="{1F3856F5-9969-4F04-83B0-26A0038E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479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56057"/>
                </a:solidFill>
              </a:defRPr>
            </a:pPr>
            <a:r>
              <a:rPr sz="1650" b="0" i="0">
                <a:solidFill>
                  <a:srgbClr val="656057"/>
                </a:solidFill>
              </a:rPr>
              <a:t>Aptos organiza explicações, conclusões e implicações de negócio sem competir com os dados.</a:t>
            </a:r>
          </a:p>
        </p:txBody>
      </p:sp>
      <p:sp>
        <p:nvSpPr>
          <p:cNvPr id="14" name="label-Aptos · texto-720-385">
            <a:extLst xmlns:a="http://schemas.openxmlformats.org/drawingml/2006/main">
              <a:ext uri="{FF2B5EF4-FFF2-40B4-BE49-F238E27FC236}">
                <a16:creationId xmlns:a16="http://schemas.microsoft.com/office/drawing/2014/main" id="{A2495771-C4E4-4689-BD99-19D38739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67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43A2B"/>
                </a:solidFill>
              </a:defRPr>
            </a:pPr>
            <a:r>
              <a:rPr sz="825" b="1" i="0">
                <a:solidFill>
                  <a:srgbClr val="A43A2B"/>
                </a:solidFill>
              </a:rPr>
              <a:t>APTOS · TEXTO</a:t>
            </a:r>
          </a:p>
        </p:txBody>
      </p:sp>
      <p:sp>
        <p:nvSpPr>
          <p:cNvPr id="15" name="type-mono">
            <a:extLst xmlns:a="http://schemas.openxmlformats.org/drawingml/2006/main">
              <a:ext uri="{FF2B5EF4-FFF2-40B4-BE49-F238E27FC236}">
                <a16:creationId xmlns:a16="http://schemas.microsoft.com/office/drawing/2014/main" id="{5556F4E4-5A69-45F8-8093-76B3CD9C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612"/>
                </a:solidFill>
              </a:defRPr>
            </a:pPr>
            <a:r>
              <a:rPr sz="1575" b="1" i="0">
                <a:solidFill>
                  <a:srgbClr val="171612"/>
                </a:solidFill>
              </a:rPr>
              <a:t>D+1 → D+120  |  WMAPE 7,8%</a:t>
            </a:r>
          </a:p>
        </p:txBody>
      </p:sp>
      <p:sp>
        <p:nvSpPr>
          <p:cNvPr id="16" name="label-Aptos Mono · metadados-720-516">
            <a:extLst xmlns:a="http://schemas.openxmlformats.org/drawingml/2006/main">
              <a:ext uri="{FF2B5EF4-FFF2-40B4-BE49-F238E27FC236}">
                <a16:creationId xmlns:a16="http://schemas.microsoft.com/office/drawing/2014/main" id="{1626BADD-EB87-45E0-8872-456FD643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43A2B"/>
                </a:solidFill>
              </a:defRPr>
            </a:pPr>
            <a:r>
              <a:rPr sz="825" b="1" i="0">
                <a:solidFill>
                  <a:srgbClr val="A43A2B"/>
                </a:solidFill>
              </a:rPr>
              <a:t>APTOS MONO · METADADOS</a:t>
            </a:r>
          </a:p>
        </p:txBody>
      </p:sp>
      <p:sp>
        <p:nvSpPr>
          <p:cNvPr id="17" name="type-scale">
            <a:extLst xmlns:a="http://schemas.openxmlformats.org/drawingml/2006/main">
              <a:ext uri="{FF2B5EF4-FFF2-40B4-BE49-F238E27FC236}">
                <a16:creationId xmlns:a16="http://schemas.microsoft.com/office/drawing/2014/main" id="{CC9880B8-CC3D-425E-906B-FB8C9ED4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TÍTULO 35–44 pt   ·   SUBTÍTULO 22–26 pt   ·   CORPO 18–22 pt</a:t>
            </a:r>
          </a:p>
        </p:txBody>
      </p:sp>
    </p:spTree>
    <p:extLst>
      <p:ext uri="{BB962C8B-B14F-4D97-AF65-F5344CB8AC3E}">
        <p14:creationId xmlns:p14="http://schemas.microsoft.com/office/powerpoint/2010/main" val="2119842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B2744467-2298-4F41-BEC3-DE6DC2C0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04F9A485-FB5D-45BE-982A-A98A29C4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FB062341-598D-43AE-90DF-6976E979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884D5A4B-93EE-41DC-8F96-072F2BDB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MANUAL · COMPOSIÇÃO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19ECDF3-4FFC-48EE-8C52-F66D9C09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06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E75DB540-46BE-4644-8398-28D6E527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14AB080-C501-4394-B3DB-DD724A77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BF0C05A-B541-4271-9EA0-AD035193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605AC848-FD9E-435D-B0DB-13A40848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GRID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94A6007B-04CE-45F2-8805-4C7396A4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A hierarquia começa pelo alinhamento</a:t>
            </a:r>
          </a:p>
        </p:txBody>
      </p:sp>
      <p:sp>
        <p:nvSpPr>
          <p:cNvPr id="11" name="grid-col-0">
            <a:extLst xmlns:a="http://schemas.openxmlformats.org/drawingml/2006/main">
              <a:ext uri="{FF2B5EF4-FFF2-40B4-BE49-F238E27FC236}">
                <a16:creationId xmlns:a16="http://schemas.microsoft.com/office/drawing/2014/main" id="{3A3CFBAF-147F-4E50-8568-B48A67C8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6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col-1">
            <a:extLst xmlns:a="http://schemas.openxmlformats.org/drawingml/2006/main">
              <a:ext uri="{FF2B5EF4-FFF2-40B4-BE49-F238E27FC236}">
                <a16:creationId xmlns:a16="http://schemas.microsoft.com/office/drawing/2014/main" id="{AEEE17BE-33D7-4FD2-821A-083956C5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00300"/>
            <a:ext cx="76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col-2">
            <a:extLst xmlns:a="http://schemas.openxmlformats.org/drawingml/2006/main">
              <a:ext uri="{FF2B5EF4-FFF2-40B4-BE49-F238E27FC236}">
                <a16:creationId xmlns:a16="http://schemas.microsoft.com/office/drawing/2014/main" id="{C91F9FF3-DA88-4D85-AD36-64F155EB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00300"/>
            <a:ext cx="76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col-3">
            <a:extLst xmlns:a="http://schemas.openxmlformats.org/drawingml/2006/main">
              <a:ext uri="{FF2B5EF4-FFF2-40B4-BE49-F238E27FC236}">
                <a16:creationId xmlns:a16="http://schemas.microsoft.com/office/drawing/2014/main" id="{A48B8318-CC8F-4DA0-8E13-86E92389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76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col-4">
            <a:extLst xmlns:a="http://schemas.openxmlformats.org/drawingml/2006/main">
              <a:ext uri="{FF2B5EF4-FFF2-40B4-BE49-F238E27FC236}">
                <a16:creationId xmlns:a16="http://schemas.microsoft.com/office/drawing/2014/main" id="{509382E5-5B8A-48CC-B77F-E151745F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0300"/>
            <a:ext cx="76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col-5">
            <a:extLst xmlns:a="http://schemas.openxmlformats.org/drawingml/2006/main">
              <a:ext uri="{FF2B5EF4-FFF2-40B4-BE49-F238E27FC236}">
                <a16:creationId xmlns:a16="http://schemas.microsoft.com/office/drawing/2014/main" id="{0A89678E-670F-4122-AEE2-86D15C65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00300"/>
            <a:ext cx="76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col-6">
            <a:extLst xmlns:a="http://schemas.openxmlformats.org/drawingml/2006/main">
              <a:ext uri="{FF2B5EF4-FFF2-40B4-BE49-F238E27FC236}">
                <a16:creationId xmlns:a16="http://schemas.microsoft.com/office/drawing/2014/main" id="{23E04282-9AC2-4C83-8BFE-9A934E26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76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col-7">
            <a:extLst xmlns:a="http://schemas.openxmlformats.org/drawingml/2006/main">
              <a:ext uri="{FF2B5EF4-FFF2-40B4-BE49-F238E27FC236}">
                <a16:creationId xmlns:a16="http://schemas.microsoft.com/office/drawing/2014/main" id="{5FCB061A-84E8-4D1F-8B56-6AA1101C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00300"/>
            <a:ext cx="76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col-8">
            <a:extLst xmlns:a="http://schemas.openxmlformats.org/drawingml/2006/main">
              <a:ext uri="{FF2B5EF4-FFF2-40B4-BE49-F238E27FC236}">
                <a16:creationId xmlns:a16="http://schemas.microsoft.com/office/drawing/2014/main" id="{3461E304-BA5A-4DDA-8AAA-55A7D729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76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col-9">
            <a:extLst xmlns:a="http://schemas.openxmlformats.org/drawingml/2006/main">
              <a:ext uri="{FF2B5EF4-FFF2-40B4-BE49-F238E27FC236}">
                <a16:creationId xmlns:a16="http://schemas.microsoft.com/office/drawing/2014/main" id="{089ACD68-2D48-44A8-93E5-1D223BFF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76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col-10">
            <a:extLst xmlns:a="http://schemas.openxmlformats.org/drawingml/2006/main">
              <a:ext uri="{FF2B5EF4-FFF2-40B4-BE49-F238E27FC236}">
                <a16:creationId xmlns:a16="http://schemas.microsoft.com/office/drawing/2014/main" id="{CC7191F9-4D0C-4A38-B8E0-A9BEAAD3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00300"/>
            <a:ext cx="76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col-11">
            <a:extLst xmlns:a="http://schemas.openxmlformats.org/drawingml/2006/main">
              <a:ext uri="{FF2B5EF4-FFF2-40B4-BE49-F238E27FC236}">
                <a16:creationId xmlns:a16="http://schemas.microsoft.com/office/drawing/2014/main" id="{72F485C6-36EF-49F3-8758-6195D738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400300"/>
            <a:ext cx="76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title-example">
            <a:extLst xmlns:a="http://schemas.openxmlformats.org/drawingml/2006/main">
              <a:ext uri="{FF2B5EF4-FFF2-40B4-BE49-F238E27FC236}">
                <a16:creationId xmlns:a16="http://schemas.microsoft.com/office/drawing/2014/main" id="{4AB0B7F7-870A-4E53-A230-2A50669F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171612"/>
                </a:solidFill>
              </a:defRPr>
            </a:pPr>
            <a:r>
              <a:rPr sz="2850" b="0" i="0">
                <a:solidFill>
                  <a:srgbClr val="171612"/>
                </a:solidFill>
              </a:rPr>
              <a:t>Título conclusivo em até duas linhas</a:t>
            </a:r>
          </a:p>
        </p:txBody>
      </p:sp>
      <p:sp>
        <p:nvSpPr>
          <p:cNvPr id="24" name="grid-copy-example">
            <a:extLst xmlns:a="http://schemas.openxmlformats.org/drawingml/2006/main">
              <a:ext uri="{FF2B5EF4-FFF2-40B4-BE49-F238E27FC236}">
                <a16:creationId xmlns:a16="http://schemas.microsoft.com/office/drawing/2014/main" id="{B3ED8BC3-7F66-4C0B-984F-91422A05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56057"/>
                </a:solidFill>
              </a:defRPr>
            </a:pPr>
            <a:r>
              <a:rPr sz="1500" b="0" i="0">
                <a:solidFill>
                  <a:srgbClr val="656057"/>
                </a:solidFill>
              </a:rPr>
              <a:t>Evidência principal ocupa mais espaço que a explicação.</a:t>
            </a:r>
          </a:p>
        </p:txBody>
      </p:sp>
      <p:sp>
        <p:nvSpPr>
          <p:cNvPr id="25" name="grid-accent">
            <a:extLst xmlns:a="http://schemas.openxmlformats.org/drawingml/2006/main">
              <a:ext uri="{FF2B5EF4-FFF2-40B4-BE49-F238E27FC236}">
                <a16:creationId xmlns:a16="http://schemas.microsoft.com/office/drawing/2014/main" id="{F18F04AA-6D9E-4688-846E-FB178D9C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43A2B"/>
            </a:solidFill>
            <a:prstDash val="solid"/>
          </a:ln>
        </p:spPr>
      </p:sp>
      <p:sp>
        <p:nvSpPr>
          <p:cNvPr id="26" name="grid-rule">
            <a:extLst xmlns:a="http://schemas.openxmlformats.org/drawingml/2006/main">
              <a:ext uri="{FF2B5EF4-FFF2-40B4-BE49-F238E27FC236}">
                <a16:creationId xmlns:a16="http://schemas.microsoft.com/office/drawing/2014/main" id="{DF7D27E3-EE2B-4DB4-8174-9A86FFBE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MARGENS 72 px   ·   12 COLUNAS   ·   GUTTER 16 px   ·   BASE 8 px</a:t>
            </a:r>
          </a:p>
        </p:txBody>
      </p:sp>
    </p:spTree>
    <p:extLst>
      <p:ext uri="{BB962C8B-B14F-4D97-AF65-F5344CB8AC3E}">
        <p14:creationId xmlns:p14="http://schemas.microsoft.com/office/powerpoint/2010/main" val="9752023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2D00BF8C-2892-430B-962B-94C6D3D3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91348E48-EE32-4780-91BE-6B97F367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EF1D78D4-8324-4C3A-A5C5-48F8CD9B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8B50DA52-B42F-4B8C-ABBF-C32DC8DF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MANUAL · GRAFISMOS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772341E-7B23-415E-BFC5-6B544F79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07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50874D74-353C-4A40-9570-13B652B4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9D689BC-93E8-4788-9482-FF7EE3BC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C7B190E-C25E-440F-A69F-7239A103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DB0E84B6-D9DF-4A60-9FCC-57B99A42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ASSINATURA VISUAL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162AE921-8CB0-4EFE-8FC5-413629B2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A série temporal vira fio narrativo</a:t>
            </a:r>
          </a:p>
        </p:txBody>
      </p:sp>
      <p:sp>
        <p:nvSpPr>
          <p:cNvPr id="11" name="subtitle">
            <a:extLst xmlns:a="http://schemas.openxmlformats.org/drawingml/2006/main">
              <a:ext uri="{FF2B5EF4-FFF2-40B4-BE49-F238E27FC236}">
                <a16:creationId xmlns:a16="http://schemas.microsoft.com/office/drawing/2014/main" id="{0AD2DE4C-8136-40C2-AAA6-3C8DF6F4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56057"/>
                </a:solidFill>
              </a:defRPr>
            </a:pPr>
            <a:r>
              <a:rPr sz="1425" b="0" i="0">
                <a:solidFill>
                  <a:srgbClr val="656057"/>
                </a:solidFill>
              </a:rPr>
              <a:t>Use a curva para conectar contexto, evidência e decisão.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85800" y="2667000"/>
          <a:ext xmlns:a="http://schemas.openxmlformats.org/drawingml/2006/main" cx="78105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7066c0132848eb"/>
          </a:graphicData>
        </a:graphic>
      </p:graphicFrame>
      <p:sp>
        <p:nvSpPr>
          <p:cNvPr id="13" name="signature-note">
            <a:extLst xmlns:a="http://schemas.openxmlformats.org/drawingml/2006/main">
              <a:ext uri="{FF2B5EF4-FFF2-40B4-BE49-F238E27FC236}">
                <a16:creationId xmlns:a16="http://schemas.microsoft.com/office/drawing/2014/main" id="{F46AA5D1-5157-44A2-B581-5EDEC60A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1612"/>
                </a:solidFill>
              </a:defRPr>
            </a:pPr>
            <a:r>
              <a:rPr sz="900" b="1" i="0">
                <a:solidFill>
                  <a:srgbClr val="171612"/>
                </a:solidFill>
              </a:rPr>
              <a:t>REALIZADO</a:t>
            </a:r>
          </a:p>
        </p:txBody>
      </p:sp>
      <p:sp>
        <p:nvSpPr>
          <p:cNvPr id="14" name="signature-note-2">
            <a:extLst xmlns:a="http://schemas.openxmlformats.org/drawingml/2006/main">
              <a:ext uri="{FF2B5EF4-FFF2-40B4-BE49-F238E27FC236}">
                <a16:creationId xmlns:a16="http://schemas.microsoft.com/office/drawing/2014/main" id="{9FC4B4CB-299C-4B70-B150-9D0EE3B5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FORECAST</a:t>
            </a:r>
          </a:p>
        </p:txBody>
      </p:sp>
      <p:sp>
        <p:nvSpPr>
          <p:cNvPr id="15" name="signature-rule">
            <a:extLst xmlns:a="http://schemas.openxmlformats.org/drawingml/2006/main">
              <a:ext uri="{FF2B5EF4-FFF2-40B4-BE49-F238E27FC236}">
                <a16:creationId xmlns:a16="http://schemas.microsoft.com/office/drawing/2014/main" id="{83C30BAB-63F7-493C-A09F-507FAC55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814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6057"/>
                </a:solidFill>
              </a:defRPr>
            </a:pPr>
            <a:r>
              <a:rPr sz="1350" b="0" i="0">
                <a:solidFill>
                  <a:srgbClr val="656057"/>
                </a:solidFill>
              </a:rPr>
              <a:t>Curva fina</a:t>
            </a:r>
          </a:p>
          <a:p xmlns:a="http://schemas.openxmlformats.org/drawingml/2006/main">
            <a:pPr algn="l">
              <a:defRPr sz="1350" b="0" i="0">
                <a:solidFill>
                  <a:srgbClr val="656057"/>
                </a:solidFill>
              </a:defRPr>
            </a:pPr>
            <a:r>
              <a:rPr sz="1350" b="0" i="0">
                <a:solidFill>
                  <a:srgbClr val="656057"/>
                </a:solidFill>
              </a:rPr>
              <a:t>Pontos discretos</a:t>
            </a:r>
          </a:p>
          <a:p xmlns:a="http://schemas.openxmlformats.org/drawingml/2006/main">
            <a:pPr algn="l">
              <a:defRPr sz="1350" b="0" i="0">
                <a:solidFill>
                  <a:srgbClr val="656057"/>
                </a:solidFill>
              </a:defRPr>
            </a:pPr>
            <a:r>
              <a:rPr sz="1350" b="0" i="0">
                <a:solidFill>
                  <a:srgbClr val="656057"/>
                </a:solidFill>
              </a:rPr>
              <a:t>Uma cor de evidência</a:t>
            </a:r>
          </a:p>
        </p:txBody>
      </p:sp>
    </p:spTree>
    <p:extLst>
      <p:ext uri="{BB962C8B-B14F-4D97-AF65-F5344CB8AC3E}">
        <p14:creationId xmlns:p14="http://schemas.microsoft.com/office/powerpoint/2010/main" val="20299232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B6D57EA0-96C2-4BDE-BE38-AC901883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3149BCEE-3CF9-44EA-89ED-865D3A8A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6973F655-B15D-4C99-8CD4-3C383093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9A4DD3CF-727E-4856-83E6-709DD685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MANUAL · VISUALIZAÇÃO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6F0FE52-9091-4190-8BA6-A6A1879E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08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E5AC8BF1-07AE-4300-B776-AF72AA44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01DA51B-3770-498A-B4E5-5F63DF4A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43C8327-B7AA-43A2-B6C7-EAED3125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72EA7CAD-8BE7-41C0-A4F2-BE19A1D7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GRÁFICOS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6308D6BC-4E8B-4B66-AA2B-74F16EE0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A visualização deve responder uma pergunta</a:t>
            </a:r>
          </a:p>
        </p:txBody>
      </p:sp>
      <p:sp>
        <p:nvSpPr>
          <p:cNvPr id="11" name="chart-rule-num-0">
            <a:extLst xmlns:a="http://schemas.openxmlformats.org/drawingml/2006/main">
              <a:ext uri="{FF2B5EF4-FFF2-40B4-BE49-F238E27FC236}">
                <a16:creationId xmlns:a16="http://schemas.microsoft.com/office/drawing/2014/main" id="{5981439F-CFF9-49BA-8F1C-A6505F59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01</a:t>
            </a:r>
          </a:p>
        </p:txBody>
      </p:sp>
      <p:sp>
        <p:nvSpPr>
          <p:cNvPr id="12" name="chart-rule-title-0">
            <a:extLst xmlns:a="http://schemas.openxmlformats.org/drawingml/2006/main">
              <a:ext uri="{FF2B5EF4-FFF2-40B4-BE49-F238E27FC236}">
                <a16:creationId xmlns:a16="http://schemas.microsoft.com/office/drawing/2014/main" id="{E1D6C715-3A73-4748-AA10-2907C4B5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907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1612"/>
                </a:solidFill>
              </a:defRPr>
            </a:pPr>
            <a:r>
              <a:rPr sz="1650" b="0" i="0">
                <a:solidFill>
                  <a:srgbClr val="171612"/>
                </a:solidFill>
              </a:rPr>
              <a:t>Título conclusivo</a:t>
            </a:r>
          </a:p>
        </p:txBody>
      </p:sp>
      <p:sp>
        <p:nvSpPr>
          <p:cNvPr id="13" name="chart-rule-copy-0">
            <a:extLst xmlns:a="http://schemas.openxmlformats.org/drawingml/2006/main">
              <a:ext uri="{FF2B5EF4-FFF2-40B4-BE49-F238E27FC236}">
                <a16:creationId xmlns:a16="http://schemas.microsoft.com/office/drawing/2014/main" id="{72D931AA-8944-4DF7-AB72-4FD43871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288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6057"/>
                </a:solidFill>
              </a:defRPr>
            </a:pPr>
            <a:r>
              <a:rPr sz="1350" b="0" i="0">
                <a:solidFill>
                  <a:srgbClr val="656057"/>
                </a:solidFill>
              </a:rPr>
              <a:t>diga o que o padrão significa</a:t>
            </a:r>
          </a:p>
        </p:txBody>
      </p:sp>
      <p:sp>
        <p:nvSpPr>
          <p:cNvPr id="14" name="chart-rule-line-0">
            <a:extLst xmlns:a="http://schemas.openxmlformats.org/drawingml/2006/main">
              <a:ext uri="{FF2B5EF4-FFF2-40B4-BE49-F238E27FC236}">
                <a16:creationId xmlns:a16="http://schemas.microsoft.com/office/drawing/2014/main" id="{A9118E4C-1174-4CB8-9471-81ECA45C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5" name="chart-rule-num-1">
            <a:extLst xmlns:a="http://schemas.openxmlformats.org/drawingml/2006/main">
              <a:ext uri="{FF2B5EF4-FFF2-40B4-BE49-F238E27FC236}">
                <a16:creationId xmlns:a16="http://schemas.microsoft.com/office/drawing/2014/main" id="{F966F4AD-7108-463C-A29C-F5186841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02</a:t>
            </a:r>
          </a:p>
        </p:txBody>
      </p:sp>
      <p:sp>
        <p:nvSpPr>
          <p:cNvPr id="16" name="chart-rule-title-1">
            <a:extLst xmlns:a="http://schemas.openxmlformats.org/drawingml/2006/main">
              <a:ext uri="{FF2B5EF4-FFF2-40B4-BE49-F238E27FC236}">
                <a16:creationId xmlns:a16="http://schemas.microsoft.com/office/drawing/2014/main" id="{5A849848-DC8B-47FF-A7D6-C9693137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575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1612"/>
                </a:solidFill>
              </a:defRPr>
            </a:pPr>
            <a:r>
              <a:rPr sz="1650" b="0" i="0">
                <a:solidFill>
                  <a:srgbClr val="171612"/>
                </a:solidFill>
              </a:rPr>
              <a:t>Unidade explícita</a:t>
            </a:r>
          </a:p>
        </p:txBody>
      </p:sp>
      <p:sp>
        <p:nvSpPr>
          <p:cNvPr id="17" name="chart-rule-copy-1">
            <a:extLst xmlns:a="http://schemas.openxmlformats.org/drawingml/2006/main">
              <a:ext uri="{FF2B5EF4-FFF2-40B4-BE49-F238E27FC236}">
                <a16:creationId xmlns:a16="http://schemas.microsoft.com/office/drawing/2014/main" id="{E83B176A-46A5-440E-9D2F-B3D10B92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956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6057"/>
                </a:solidFill>
              </a:defRPr>
            </a:pPr>
            <a:r>
              <a:rPr sz="1350" b="0" i="0">
                <a:solidFill>
                  <a:srgbClr val="656057"/>
                </a:solidFill>
              </a:rPr>
              <a:t>R$, peças, %, dias ou SKUs</a:t>
            </a:r>
          </a:p>
        </p:txBody>
      </p:sp>
      <p:sp>
        <p:nvSpPr>
          <p:cNvPr id="18" name="chart-rule-line-1">
            <a:extLst xmlns:a="http://schemas.openxmlformats.org/drawingml/2006/main">
              <a:ext uri="{FF2B5EF4-FFF2-40B4-BE49-F238E27FC236}">
                <a16:creationId xmlns:a16="http://schemas.microsoft.com/office/drawing/2014/main" id="{3BCD656B-636D-459A-9F73-20E8AECD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9" name="chart-rule-num-2">
            <a:extLst xmlns:a="http://schemas.openxmlformats.org/drawingml/2006/main">
              <a:ext uri="{FF2B5EF4-FFF2-40B4-BE49-F238E27FC236}">
                <a16:creationId xmlns:a16="http://schemas.microsoft.com/office/drawing/2014/main" id="{79DB591E-CC59-4876-8024-A6F50934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03</a:t>
            </a:r>
          </a:p>
        </p:txBody>
      </p:sp>
      <p:sp>
        <p:nvSpPr>
          <p:cNvPr id="20" name="chart-rule-title-2">
            <a:extLst xmlns:a="http://schemas.openxmlformats.org/drawingml/2006/main">
              <a:ext uri="{FF2B5EF4-FFF2-40B4-BE49-F238E27FC236}">
                <a16:creationId xmlns:a16="http://schemas.microsoft.com/office/drawing/2014/main" id="{21B88378-A7D6-4B2F-94E1-79E04803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242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1612"/>
                </a:solidFill>
              </a:defRPr>
            </a:pPr>
            <a:r>
              <a:rPr sz="1650" b="0" i="0">
                <a:solidFill>
                  <a:srgbClr val="171612"/>
                </a:solidFill>
              </a:rPr>
              <a:t>Forecast destacado</a:t>
            </a:r>
          </a:p>
        </p:txBody>
      </p:sp>
      <p:sp>
        <p:nvSpPr>
          <p:cNvPr id="21" name="chart-rule-copy-2">
            <a:extLst xmlns:a="http://schemas.openxmlformats.org/drawingml/2006/main">
              <a:ext uri="{FF2B5EF4-FFF2-40B4-BE49-F238E27FC236}">
                <a16:creationId xmlns:a16="http://schemas.microsoft.com/office/drawing/2014/main" id="{6A058C40-74B2-4E94-80B3-3EF8671E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623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6057"/>
                </a:solidFill>
              </a:defRPr>
            </a:pPr>
            <a:r>
              <a:rPr sz="1350" b="0" i="0">
                <a:solidFill>
                  <a:srgbClr val="656057"/>
                </a:solidFill>
              </a:rPr>
              <a:t>vermelho para a evidência principal</a:t>
            </a:r>
          </a:p>
        </p:txBody>
      </p:sp>
      <p:sp>
        <p:nvSpPr>
          <p:cNvPr id="22" name="chart-rule-line-2">
            <a:extLst xmlns:a="http://schemas.openxmlformats.org/drawingml/2006/main">
              <a:ext uri="{FF2B5EF4-FFF2-40B4-BE49-F238E27FC236}">
                <a16:creationId xmlns:a16="http://schemas.microsoft.com/office/drawing/2014/main" id="{C2DD745A-071B-4D3A-A7F4-4A5161A5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23" name="chart-rule-num-3">
            <a:extLst xmlns:a="http://schemas.openxmlformats.org/drawingml/2006/main">
              <a:ext uri="{FF2B5EF4-FFF2-40B4-BE49-F238E27FC236}">
                <a16:creationId xmlns:a16="http://schemas.microsoft.com/office/drawing/2014/main" id="{EC9EABE2-09DF-447D-9A7F-CE7820A7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04</a:t>
            </a:r>
          </a:p>
        </p:txBody>
      </p:sp>
      <p:sp>
        <p:nvSpPr>
          <p:cNvPr id="24" name="chart-rule-title-3">
            <a:extLst xmlns:a="http://schemas.openxmlformats.org/drawingml/2006/main">
              <a:ext uri="{FF2B5EF4-FFF2-40B4-BE49-F238E27FC236}">
                <a16:creationId xmlns:a16="http://schemas.microsoft.com/office/drawing/2014/main" id="{EDE06636-72AB-4B4B-9011-97EE9672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910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1612"/>
                </a:solidFill>
              </a:defRPr>
            </a:pPr>
            <a:r>
              <a:rPr sz="1650" b="0" i="0">
                <a:solidFill>
                  <a:srgbClr val="171612"/>
                </a:solidFill>
              </a:rPr>
              <a:t>Incerteza visível</a:t>
            </a:r>
          </a:p>
        </p:txBody>
      </p:sp>
      <p:sp>
        <p:nvSpPr>
          <p:cNvPr id="25" name="chart-rule-copy-3">
            <a:extLst xmlns:a="http://schemas.openxmlformats.org/drawingml/2006/main">
              <a:ext uri="{FF2B5EF4-FFF2-40B4-BE49-F238E27FC236}">
                <a16:creationId xmlns:a16="http://schemas.microsoft.com/office/drawing/2014/main" id="{B2E86445-4906-40C7-9320-7C79C8D8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291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6057"/>
                </a:solidFill>
              </a:defRPr>
            </a:pPr>
            <a:r>
              <a:rPr sz="1350" b="0" i="0">
                <a:solidFill>
                  <a:srgbClr val="656057"/>
                </a:solidFill>
              </a:rPr>
              <a:t>faixa, cenário ou intervalo</a:t>
            </a:r>
          </a:p>
        </p:txBody>
      </p:sp>
      <p:sp>
        <p:nvSpPr>
          <p:cNvPr id="26" name="chart-rule-line-3">
            <a:extLst xmlns:a="http://schemas.openxmlformats.org/drawingml/2006/main">
              <a:ext uri="{FF2B5EF4-FFF2-40B4-BE49-F238E27FC236}">
                <a16:creationId xmlns:a16="http://schemas.microsoft.com/office/drawing/2014/main" id="{E9C0F4F3-461D-4FE8-ACD4-C7B722C1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27" name="chart-rule-num-4">
            <a:extLst xmlns:a="http://schemas.openxmlformats.org/drawingml/2006/main">
              <a:ext uri="{FF2B5EF4-FFF2-40B4-BE49-F238E27FC236}">
                <a16:creationId xmlns:a16="http://schemas.microsoft.com/office/drawing/2014/main" id="{422196EE-6F78-485B-BE76-31DF6044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05</a:t>
            </a:r>
          </a:p>
        </p:txBody>
      </p:sp>
      <p:sp>
        <p:nvSpPr>
          <p:cNvPr id="28" name="chart-rule-title-4">
            <a:extLst xmlns:a="http://schemas.openxmlformats.org/drawingml/2006/main">
              <a:ext uri="{FF2B5EF4-FFF2-40B4-BE49-F238E27FC236}">
                <a16:creationId xmlns:a16="http://schemas.microsoft.com/office/drawing/2014/main" id="{40266797-65F4-4F65-8207-5A7E42F9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577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1612"/>
                </a:solidFill>
              </a:defRPr>
            </a:pPr>
            <a:r>
              <a:rPr sz="1650" b="0" i="0">
                <a:solidFill>
                  <a:srgbClr val="171612"/>
                </a:solidFill>
              </a:rPr>
              <a:t>Fonte e período</a:t>
            </a:r>
          </a:p>
        </p:txBody>
      </p:sp>
      <p:sp>
        <p:nvSpPr>
          <p:cNvPr id="29" name="chart-rule-copy-4">
            <a:extLst xmlns:a="http://schemas.openxmlformats.org/drawingml/2006/main">
              <a:ext uri="{FF2B5EF4-FFF2-40B4-BE49-F238E27FC236}">
                <a16:creationId xmlns:a16="http://schemas.microsoft.com/office/drawing/2014/main" id="{E2B20651-8032-483C-B024-9CF6749D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958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6057"/>
                </a:solidFill>
              </a:defRPr>
            </a:pPr>
            <a:r>
              <a:rPr sz="1350" b="0" i="0">
                <a:solidFill>
                  <a:srgbClr val="656057"/>
                </a:solidFill>
              </a:rPr>
              <a:t>sempre no rodapé metodológico</a:t>
            </a:r>
          </a:p>
        </p:txBody>
      </p:sp>
      <p:sp>
        <p:nvSpPr>
          <p:cNvPr id="30" name="chart-rule-line-4">
            <a:extLst xmlns:a="http://schemas.openxmlformats.org/drawingml/2006/main">
              <a:ext uri="{FF2B5EF4-FFF2-40B4-BE49-F238E27FC236}">
                <a16:creationId xmlns:a16="http://schemas.microsoft.com/office/drawing/2014/main" id="{345C439E-8B92-46DB-BDC0-3930C11C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31" name="dont-box">
            <a:extLst xmlns:a="http://schemas.openxmlformats.org/drawingml/2006/main">
              <a:ext uri="{FF2B5EF4-FFF2-40B4-BE49-F238E27FC236}">
                <a16:creationId xmlns:a16="http://schemas.microsoft.com/office/drawing/2014/main" id="{4EFE23DD-84B5-4B41-8228-C8C4CBBA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28875"/>
            <a:ext cx="1190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ont">
            <a:extLst xmlns:a="http://schemas.openxmlformats.org/drawingml/2006/main">
              <a:ext uri="{FF2B5EF4-FFF2-40B4-BE49-F238E27FC236}">
                <a16:creationId xmlns:a16="http://schemas.microsoft.com/office/drawing/2014/main" id="{8E078BD3-7640-4C63-BB72-94F8953E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86050"/>
            <a:ext cx="857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1EBDC"/>
                </a:solidFill>
              </a:defRPr>
            </a:pPr>
            <a:r>
              <a:rPr sz="1050" b="1" i="0">
                <a:solidFill>
                  <a:srgbClr val="F1EBDC"/>
                </a:solidFill>
              </a:rPr>
              <a:t>NÃO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1" i="0">
                <a:solidFill>
                  <a:srgbClr val="F1EBDC"/>
                </a:solidFill>
              </a:defRPr>
            </a:pPr>
            <a:r>
              <a:rPr sz="1050" b="1" i="0">
                <a:solidFill>
                  <a:srgbClr val="F1EBDC"/>
                </a:solidFill>
              </a:rPr>
              <a:t>3D</a:t>
            </a:r>
          </a:p>
          <a:p xmlns:a="http://schemas.openxmlformats.org/drawingml/2006/main">
            <a:pPr algn="ctr">
              <a:defRPr sz="1050" b="1" i="0">
                <a:solidFill>
                  <a:srgbClr val="F1EBDC"/>
                </a:solidFill>
              </a:defRPr>
            </a:pPr>
            <a:r>
              <a:rPr sz="1050" b="1" i="0">
                <a:solidFill>
                  <a:srgbClr val="F1EBDC"/>
                </a:solidFill>
              </a:rPr>
              <a:t>pizza</a:t>
            </a:r>
          </a:p>
          <a:p xmlns:a="http://schemas.openxmlformats.org/drawingml/2006/main">
            <a:pPr algn="ctr">
              <a:defRPr sz="1050" b="1" i="0">
                <a:solidFill>
                  <a:srgbClr val="F1EBDC"/>
                </a:solidFill>
              </a:defRPr>
            </a:pPr>
            <a:r>
              <a:rPr sz="1050" b="1" i="0">
                <a:solidFill>
                  <a:srgbClr val="F1EBDC"/>
                </a:solidFill>
              </a:rPr>
              <a:t>arco-íris</a:t>
            </a:r>
          </a:p>
          <a:p xmlns:a="http://schemas.openxmlformats.org/drawingml/2006/main">
            <a:pPr algn="ctr">
              <a:defRPr sz="1050" b="1" i="0">
                <a:solidFill>
                  <a:srgbClr val="F1EBDC"/>
                </a:solidFill>
              </a:defRPr>
            </a:pPr>
            <a:r>
              <a:rPr sz="1050" b="1" i="0">
                <a:solidFill>
                  <a:srgbClr val="F1EBDC"/>
                </a:solidFill>
              </a:rPr>
              <a:t>eixo ambíguo</a:t>
            </a:r>
          </a:p>
        </p:txBody>
      </p:sp>
    </p:spTree>
    <p:extLst>
      <p:ext uri="{BB962C8B-B14F-4D97-AF65-F5344CB8AC3E}">
        <p14:creationId xmlns:p14="http://schemas.microsoft.com/office/powerpoint/2010/main" val="19771252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369331B5-95A2-4A8D-A147-27E463AF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4B199A26-55FE-4C94-9035-D7305B1B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E8C67863-EAD4-4DD0-A9FF-84CC7A99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1B5B439A-727D-41FB-A5D3-BD8E6728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LAYOUT 01 · CAPA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F7736B8-A1BB-4337-A04A-D62EEF4C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09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4FCAC81C-AD05-4A3A-B85C-6020FA94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ADD640C-EA37-4EA2-918A-964D868F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C3AAB36-7BEA-4835-BD68-EDDEB562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cover-a-eyebrow">
            <a:extLst xmlns:a="http://schemas.openxmlformats.org/drawingml/2006/main">
              <a:ext uri="{FF2B5EF4-FFF2-40B4-BE49-F238E27FC236}">
                <a16:creationId xmlns:a16="http://schemas.microsoft.com/office/drawing/2014/main" id="{7D92136D-71B3-4612-BC38-D1C045FD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43A2B"/>
                </a:solidFill>
              </a:defRPr>
            </a:pPr>
            <a:r>
              <a:rPr sz="975" b="1" i="0">
                <a:solidFill>
                  <a:srgbClr val="A43A2B"/>
                </a:solidFill>
              </a:rPr>
              <a:t>CASE TÉCNICO · FORECAST</a:t>
            </a:r>
          </a:p>
        </p:txBody>
      </p:sp>
      <p:sp>
        <p:nvSpPr>
          <p:cNvPr id="10" name="cover-a-title">
            <a:extLst xmlns:a="http://schemas.openxmlformats.org/drawingml/2006/main">
              <a:ext uri="{FF2B5EF4-FFF2-40B4-BE49-F238E27FC236}">
                <a16:creationId xmlns:a16="http://schemas.microsoft.com/office/drawing/2014/main" id="{EAE55495-F54B-415A-A63D-01C421C3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620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71612"/>
                </a:solidFill>
              </a:defRPr>
            </a:pPr>
            <a:r>
              <a:rPr sz="3600" b="0" i="0">
                <a:solidFill>
                  <a:srgbClr val="171612"/>
                </a:solidFill>
              </a:rPr>
              <a:t>Transformando</a:t>
            </a:r>
          </a:p>
          <a:p xmlns:a="http://schemas.openxmlformats.org/drawingml/2006/main">
            <a:pPr algn="l">
              <a:defRPr sz="3600" b="0" i="0">
                <a:solidFill>
                  <a:srgbClr val="171612"/>
                </a:solidFill>
              </a:defRPr>
            </a:pPr>
            <a:r>
              <a:rPr sz="3600" b="0" i="0">
                <a:solidFill>
                  <a:srgbClr val="171612"/>
                </a:solidFill>
              </a:rPr>
              <a:t>incerteza comercial</a:t>
            </a:r>
          </a:p>
          <a:p xmlns:a="http://schemas.openxmlformats.org/drawingml/2006/main">
            <a:pPr algn="l">
              <a:defRPr sz="3600" b="0" i="0">
                <a:solidFill>
                  <a:srgbClr val="171612"/>
                </a:solidFill>
              </a:defRPr>
            </a:pPr>
            <a:r>
              <a:rPr sz="3600" b="0" i="0">
                <a:solidFill>
                  <a:srgbClr val="171612"/>
                </a:solidFill>
              </a:rPr>
              <a:t>em decisões antecipadas</a:t>
            </a:r>
          </a:p>
        </p:txBody>
      </p:sp>
      <p:sp>
        <p:nvSpPr>
          <p:cNvPr id="11" name="cover-a-sub">
            <a:extLst xmlns:a="http://schemas.openxmlformats.org/drawingml/2006/main">
              <a:ext uri="{FF2B5EF4-FFF2-40B4-BE49-F238E27FC236}">
                <a16:creationId xmlns:a16="http://schemas.microsoft.com/office/drawing/2014/main" id="{6C5A3B30-DAC7-4712-BB97-487EF0F2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56057"/>
                </a:solidFill>
              </a:defRPr>
            </a:pPr>
            <a:r>
              <a:rPr sz="1500" b="0" i="0">
                <a:solidFill>
                  <a:srgbClr val="656057"/>
                </a:solidFill>
              </a:rPr>
              <a:t>Solução preditiva aplicada ao varejo · horizonte de 120 dias</a:t>
            </a:r>
          </a:p>
        </p:txBody>
      </p:sp>
      <p:sp>
        <p:nvSpPr>
          <p:cNvPr id="12" name="cover-a-accent">
            <a:extLst xmlns:a="http://schemas.openxmlformats.org/drawingml/2006/main">
              <a:ext uri="{FF2B5EF4-FFF2-40B4-BE49-F238E27FC236}">
                <a16:creationId xmlns:a16="http://schemas.microsoft.com/office/drawing/2014/main" id="{FE06FF5B-2CF9-425A-8BF7-6A0BED36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524000"/>
            <a:ext cx="138112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ver-a-meta">
            <a:extLst xmlns:a="http://schemas.openxmlformats.org/drawingml/2006/main">
              <a:ext uri="{FF2B5EF4-FFF2-40B4-BE49-F238E27FC236}">
                <a16:creationId xmlns:a16="http://schemas.microsoft.com/office/drawing/2014/main" id="{1C2F4F44-ECF8-4B74-8DF6-78188939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00500"/>
            <a:ext cx="100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EBDC"/>
                </a:solidFill>
              </a:defRPr>
            </a:pPr>
            <a:r>
              <a:rPr sz="900" b="1" i="0">
                <a:solidFill>
                  <a:srgbClr val="F1EBDC"/>
                </a:solidFill>
              </a:rPr>
              <a:t>CHEILA BETINA</a:t>
            </a:r>
          </a:p>
          <a:p xmlns:a="http://schemas.openxmlformats.org/drawingml/2006/main">
            <a:pPr algn="ctr">
              <a:defRPr sz="900" b="1" i="0">
                <a:solidFill>
                  <a:srgbClr val="F1EBDC"/>
                </a:solidFill>
              </a:defRPr>
            </a:pPr>
            <a:r>
              <a:rPr sz="900" b="1" i="0">
                <a:solidFill>
                  <a:srgbClr val="F1EBDC"/>
                </a:solidFill>
              </a:rPr>
              <a:t>CIÊNCIA DE DADOS</a:t>
            </a:r>
          </a:p>
        </p:txBody>
      </p:sp>
    </p:spTree>
    <p:extLst>
      <p:ext uri="{BB962C8B-B14F-4D97-AF65-F5344CB8AC3E}">
        <p14:creationId xmlns:p14="http://schemas.microsoft.com/office/powerpoint/2010/main" val="1007101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6C0E8CA3-8DBD-427B-B5B0-4CA3255C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C57808E7-5D57-48E1-B915-6B124342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016BE870-2CB4-48CD-9022-87D4D92E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62E9782C-DF5E-42B6-A96A-BB648725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LAYOUT 02 · CAPA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4957F77-6728-442D-91E6-21F60153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10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9D865AA4-32ED-4D4E-B9E4-447CFCDA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5343282-B52B-42C2-B6A9-6267A3EC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70A4044-270F-4FE8-993C-A56961A9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label-Forecast como produto-72-160">
            <a:extLst xmlns:a="http://schemas.openxmlformats.org/drawingml/2006/main">
              <a:ext uri="{FF2B5EF4-FFF2-40B4-BE49-F238E27FC236}">
                <a16:creationId xmlns:a16="http://schemas.microsoft.com/office/drawing/2014/main" id="{820D01C7-95B3-4396-B8D2-32E98D1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43A2B"/>
                </a:solidFill>
              </a:defRPr>
            </a:pPr>
            <a:r>
              <a:rPr sz="825" b="1" i="0">
                <a:solidFill>
                  <a:srgbClr val="A43A2B"/>
                </a:solidFill>
              </a:rPr>
              <a:t>FORECAST COMO PRODUTO</a:t>
            </a:r>
          </a:p>
        </p:txBody>
      </p:sp>
      <p:sp>
        <p:nvSpPr>
          <p:cNvPr id="10" name="cover-b-title">
            <a:extLst xmlns:a="http://schemas.openxmlformats.org/drawingml/2006/main">
              <a:ext uri="{FF2B5EF4-FFF2-40B4-BE49-F238E27FC236}">
                <a16:creationId xmlns:a16="http://schemas.microsoft.com/office/drawing/2014/main" id="{7C88FECB-E947-47C7-8F8D-012677E3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71612"/>
                </a:solidFill>
              </a:defRPr>
            </a:pPr>
            <a:r>
              <a:rPr sz="3600" b="0" i="0">
                <a:solidFill>
                  <a:srgbClr val="171612"/>
                </a:solidFill>
              </a:rPr>
              <a:t>Uma decisão melhor</a:t>
            </a:r>
          </a:p>
          <a:p xmlns:a="http://schemas.openxmlformats.org/drawingml/2006/main">
            <a:pPr algn="l">
              <a:defRPr sz="3600" b="0" i="0">
                <a:solidFill>
                  <a:srgbClr val="171612"/>
                </a:solidFill>
              </a:defRPr>
            </a:pPr>
            <a:r>
              <a:rPr sz="3600" b="0" i="0">
                <a:solidFill>
                  <a:srgbClr val="171612"/>
                </a:solidFill>
              </a:rPr>
              <a:t>começa antes do fechamento</a:t>
            </a:r>
          </a:p>
        </p:txBody>
      </p:sp>
      <p:sp>
        <p:nvSpPr>
          <p:cNvPr id="11" name="cover-b-redline">
            <a:extLst xmlns:a="http://schemas.openxmlformats.org/drawingml/2006/main">
              <a:ext uri="{FF2B5EF4-FFF2-40B4-BE49-F238E27FC236}">
                <a16:creationId xmlns:a16="http://schemas.microsoft.com/office/drawing/2014/main" id="{6233200B-2FAD-4DF6-B776-F2C225D1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43A2B"/>
            </a:solidFill>
            <a:prstDash val="solid"/>
          </a:ln>
        </p:spPr>
      </p:sp>
      <p:sp>
        <p:nvSpPr>
          <p:cNvPr id="12" name="cover-b-sub">
            <a:extLst xmlns:a="http://schemas.openxmlformats.org/drawingml/2006/main">
              <a:ext uri="{FF2B5EF4-FFF2-40B4-BE49-F238E27FC236}">
                <a16:creationId xmlns:a16="http://schemas.microsoft.com/office/drawing/2014/main" id="{B08F87EE-1B28-402D-B9E6-08122ABF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56057"/>
                </a:solidFill>
              </a:defRPr>
            </a:pPr>
            <a:r>
              <a:rPr sz="1200" b="1" i="0">
                <a:solidFill>
                  <a:srgbClr val="656057"/>
                </a:solidFill>
              </a:rPr>
              <a:t>Case técnico · Grupo Boticário · Dados Lojas</a:t>
            </a:r>
          </a:p>
        </p:txBody>
      </p:sp>
      <p:sp>
        <p:nvSpPr>
          <p:cNvPr id="13" name="metric-rule-870">
            <a:extLst xmlns:a="http://schemas.openxmlformats.org/drawingml/2006/main">
              <a:ext uri="{FF2B5EF4-FFF2-40B4-BE49-F238E27FC236}">
                <a16:creationId xmlns:a16="http://schemas.microsoft.com/office/drawing/2014/main" id="{3363E267-682E-4EBA-AA76-26D44D67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14" name="metric-value-870">
            <a:extLst xmlns:a="http://schemas.openxmlformats.org/drawingml/2006/main">
              <a:ext uri="{FF2B5EF4-FFF2-40B4-BE49-F238E27FC236}">
                <a16:creationId xmlns:a16="http://schemas.microsoft.com/office/drawing/2014/main" id="{FEC430E5-0FB3-4B8D-B872-EAED752B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A43A2B"/>
                </a:solidFill>
              </a:defRPr>
            </a:pPr>
            <a:r>
              <a:rPr sz="2550" b="0" i="0">
                <a:solidFill>
                  <a:srgbClr val="A43A2B"/>
                </a:solidFill>
              </a:rPr>
              <a:t>D+120</a:t>
            </a:r>
          </a:p>
        </p:txBody>
      </p:sp>
      <p:sp>
        <p:nvSpPr>
          <p:cNvPr id="15" name="metric-caption-870">
            <a:extLst xmlns:a="http://schemas.openxmlformats.org/drawingml/2006/main">
              <a:ext uri="{FF2B5EF4-FFF2-40B4-BE49-F238E27FC236}">
                <a16:creationId xmlns:a16="http://schemas.microsoft.com/office/drawing/2014/main" id="{5BB4AAF9-8E7C-4E51-8790-B953471A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337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HORIZONTE ILUSTRATIVO</a:t>
            </a:r>
          </a:p>
        </p:txBody>
      </p:sp>
      <p:sp>
        <p:nvSpPr>
          <p:cNvPr id="16" name="metric-rule-870">
            <a:extLst xmlns:a="http://schemas.openxmlformats.org/drawingml/2006/main">
              <a:ext uri="{FF2B5EF4-FFF2-40B4-BE49-F238E27FC236}">
                <a16:creationId xmlns:a16="http://schemas.microsoft.com/office/drawing/2014/main" id="{0F3E5EEC-F206-42A4-B406-B4FB2CE7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17" name="metric-value-870">
            <a:extLst xmlns:a="http://schemas.openxmlformats.org/drawingml/2006/main">
              <a:ext uri="{FF2B5EF4-FFF2-40B4-BE49-F238E27FC236}">
                <a16:creationId xmlns:a16="http://schemas.microsoft.com/office/drawing/2014/main" id="{D566EE69-FC81-4496-8133-21106CDD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862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71612"/>
                </a:solidFill>
              </a:defRPr>
            </a:pPr>
            <a:r>
              <a:rPr sz="2550" b="0" i="0">
                <a:solidFill>
                  <a:srgbClr val="171612"/>
                </a:solidFill>
              </a:rPr>
              <a:t>DIÁRIO</a:t>
            </a:r>
          </a:p>
        </p:txBody>
      </p:sp>
      <p:sp>
        <p:nvSpPr>
          <p:cNvPr id="18" name="metric-caption-870">
            <a:extLst xmlns:a="http://schemas.openxmlformats.org/drawingml/2006/main">
              <a:ext uri="{FF2B5EF4-FFF2-40B4-BE49-F238E27FC236}">
                <a16:creationId xmlns:a16="http://schemas.microsoft.com/office/drawing/2014/main" id="{968CE0D7-B37A-426B-A5CF-1D3A462E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577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GRÃO DA PREVISÃO</a:t>
            </a:r>
          </a:p>
        </p:txBody>
      </p:sp>
    </p:spTree>
    <p:extLst>
      <p:ext uri="{BB962C8B-B14F-4D97-AF65-F5344CB8AC3E}">
        <p14:creationId xmlns:p14="http://schemas.microsoft.com/office/powerpoint/2010/main" val="20230109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FEF4228D-8686-4A94-90FF-8FC9405B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7515BF7B-A5AB-4915-A028-332BFA7B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335842C0-8E2A-4BC7-AC0C-737AD660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FCC6254A-11B9-4AC7-8478-1594E321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LAYOUT 03 · DIVISÓRIA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643E5FC-0866-4687-8BB5-3D02F658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11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7B32B7C7-9B18-4053-A290-E6EC9FD5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62370E8-33A4-4277-81A6-1F3FEB7A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A9DD5C0-BE90-4EDA-8A37-E2EBD490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divider-num">
            <a:extLst xmlns:a="http://schemas.openxmlformats.org/drawingml/2006/main">
              <a:ext uri="{FF2B5EF4-FFF2-40B4-BE49-F238E27FC236}">
                <a16:creationId xmlns:a16="http://schemas.microsoft.com/office/drawing/2014/main" id="{ECDBDADF-45C5-43DF-A5DD-6AB7A0EF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0" i="0">
                <a:solidFill>
                  <a:srgbClr val="A43A2B"/>
                </a:solidFill>
              </a:defRPr>
            </a:pPr>
            <a:r>
              <a:rPr sz="4800" b="0" i="0">
                <a:solidFill>
                  <a:srgbClr val="A43A2B"/>
                </a:solidFill>
              </a:rPr>
              <a:t>02</a:t>
            </a:r>
          </a:p>
        </p:txBody>
      </p:sp>
      <p:sp>
        <p:nvSpPr>
          <p:cNvPr id="10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17851B0D-973B-44F7-BFF6-EBBCF3DE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71612"/>
                </a:solidFill>
              </a:defRPr>
            </a:pPr>
            <a:r>
              <a:rPr sz="3900" b="0" i="0">
                <a:solidFill>
                  <a:srgbClr val="171612"/>
                </a:solidFill>
              </a:rPr>
              <a:t>Da pergunta</a:t>
            </a:r>
          </a:p>
          <a:p xmlns:a="http://schemas.openxmlformats.org/drawingml/2006/main">
            <a:pPr algn="l">
              <a:defRPr sz="3900" b="0" i="0">
                <a:solidFill>
                  <a:srgbClr val="171612"/>
                </a:solidFill>
              </a:defRPr>
            </a:pPr>
            <a:r>
              <a:rPr sz="3900" b="0" i="0">
                <a:solidFill>
                  <a:srgbClr val="171612"/>
                </a:solidFill>
              </a:rPr>
              <a:t>ao experimento</a:t>
            </a:r>
          </a:p>
        </p:txBody>
      </p:sp>
      <p:sp>
        <p:nvSpPr>
          <p:cNvPr id="11" name="divider-copy">
            <a:extLst xmlns:a="http://schemas.openxmlformats.org/drawingml/2006/main">
              <a:ext uri="{FF2B5EF4-FFF2-40B4-BE49-F238E27FC236}">
                <a16:creationId xmlns:a16="http://schemas.microsoft.com/office/drawing/2014/main" id="{96803B64-4351-499F-A00A-30E6AE72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56057"/>
                </a:solidFill>
              </a:defRPr>
            </a:pPr>
            <a:r>
              <a:rPr sz="1650" b="0" i="0">
                <a:solidFill>
                  <a:srgbClr val="656057"/>
                </a:solidFill>
              </a:rPr>
              <a:t>Dados, hipóteses e escolhas que tornam o resultado defensável.</a:t>
            </a:r>
          </a:p>
        </p:txBody>
      </p:sp>
      <p:sp>
        <p:nvSpPr>
          <p:cNvPr id="12" name="divider-line">
            <a:extLst xmlns:a="http://schemas.openxmlformats.org/drawingml/2006/main">
              <a:ext uri="{FF2B5EF4-FFF2-40B4-BE49-F238E27FC236}">
                <a16:creationId xmlns:a16="http://schemas.microsoft.com/office/drawing/2014/main" id="{A30EE0D6-AA53-4A6F-A831-C3C4702B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43A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781512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38ED0F16-E94E-440B-9F86-DC918859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F61B09B9-E583-4A61-AE25-D1CC8A82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8CA183C3-D0C8-4C5C-8EF4-B37BFC2A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66DC517D-D351-4C6A-8C13-07730A0B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LAYOUT 04 · CONTEXTO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A921C90-E575-4F9A-8E27-7E44F2BD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12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DDFC5D57-93C7-422A-9551-22652594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6113A45-D513-41A6-BFC7-189B6134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C1FE22C-5126-4B26-B79A-7D754FF5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B16F14D7-7D79-489E-8E60-211B3B3F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CONTEXTO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48BED458-762D-4904-B061-35CA804E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O problema não é prever; é decidir antes</a:t>
            </a:r>
          </a:p>
        </p:txBody>
      </p:sp>
      <p:sp>
        <p:nvSpPr>
          <p:cNvPr id="11" name="subtitle">
            <a:extLst xmlns:a="http://schemas.openxmlformats.org/drawingml/2006/main">
              <a:ext uri="{FF2B5EF4-FFF2-40B4-BE49-F238E27FC236}">
                <a16:creationId xmlns:a16="http://schemas.microsoft.com/office/drawing/2014/main" id="{A20BB9A1-9DE4-47EC-A5D0-83303294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56057"/>
                </a:solidFill>
              </a:defRPr>
            </a:pPr>
            <a:r>
              <a:rPr sz="1425" b="0" i="0">
                <a:solidFill>
                  <a:srgbClr val="656057"/>
                </a:solidFill>
              </a:rPr>
              <a:t>A abertura deve explicitar tensão, decisão e consequência.</a:t>
            </a:r>
          </a:p>
        </p:txBody>
      </p:sp>
      <p:sp>
        <p:nvSpPr>
          <p:cNvPr id="12" name="context-big">
            <a:extLst xmlns:a="http://schemas.openxmlformats.org/drawingml/2006/main">
              <a:ext uri="{FF2B5EF4-FFF2-40B4-BE49-F238E27FC236}">
                <a16:creationId xmlns:a16="http://schemas.microsoft.com/office/drawing/2014/main" id="{9CBEA0E9-1F0E-4209-A50D-A45E75F5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42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0" b="0" i="0">
                <a:solidFill>
                  <a:srgbClr val="A43A2B"/>
                </a:solidFill>
              </a:defRPr>
            </a:pPr>
            <a:r>
              <a:rPr sz="8250" b="0" i="0">
                <a:solidFill>
                  <a:srgbClr val="A43A2B"/>
                </a:solidFill>
              </a:rPr>
              <a:t>?</a:t>
            </a:r>
          </a:p>
        </p:txBody>
      </p:sp>
      <p:sp>
        <p:nvSpPr>
          <p:cNvPr id="13" name="context-question">
            <a:extLst xmlns:a="http://schemas.openxmlformats.org/drawingml/2006/main">
              <a:ext uri="{FF2B5EF4-FFF2-40B4-BE49-F238E27FC236}">
                <a16:creationId xmlns:a16="http://schemas.microsoft.com/office/drawing/2014/main" id="{3CA1FD5A-376C-43C2-B706-7D3A36E9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289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171612"/>
                </a:solidFill>
              </a:defRPr>
            </a:pPr>
            <a:r>
              <a:rPr sz="2400" b="0" i="0">
                <a:solidFill>
                  <a:srgbClr val="171612"/>
                </a:solidFill>
              </a:rPr>
              <a:t>Quanto venderemos — e o que muda quando a projeção se desvia?</a:t>
            </a:r>
          </a:p>
        </p:txBody>
      </p:sp>
      <p:sp>
        <p:nvSpPr>
          <p:cNvPr id="14" name="context-stakes">
            <a:extLst xmlns:a="http://schemas.openxmlformats.org/drawingml/2006/main">
              <a:ext uri="{FF2B5EF4-FFF2-40B4-BE49-F238E27FC236}">
                <a16:creationId xmlns:a16="http://schemas.microsoft.com/office/drawing/2014/main" id="{A8283722-895A-4D34-89C3-2348FBA1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2481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56057"/>
                </a:solidFill>
              </a:defRPr>
            </a:pPr>
            <a:r>
              <a:rPr sz="1500" b="0" i="0">
                <a:solidFill>
                  <a:srgbClr val="656057"/>
                </a:solidFill>
              </a:rPr>
              <a:t>Sem antecipação, o fechamento vira explicação retrospectiva.</a:t>
            </a:r>
          </a:p>
        </p:txBody>
      </p:sp>
      <p:sp>
        <p:nvSpPr>
          <p:cNvPr id="15" name="context-callout">
            <a:extLst xmlns:a="http://schemas.openxmlformats.org/drawingml/2006/main">
              <a:ext uri="{FF2B5EF4-FFF2-40B4-BE49-F238E27FC236}">
                <a16:creationId xmlns:a16="http://schemas.microsoft.com/office/drawing/2014/main" id="{5D6A94D1-ABAF-47F4-A1FB-A05D3127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14625"/>
            <a:ext cx="2000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ntext-callout-text">
            <a:extLst xmlns:a="http://schemas.openxmlformats.org/drawingml/2006/main">
              <a:ext uri="{FF2B5EF4-FFF2-40B4-BE49-F238E27FC236}">
                <a16:creationId xmlns:a16="http://schemas.microsoft.com/office/drawing/2014/main" id="{B443FAD2-71AD-402C-8578-27CC3F72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057525"/>
            <a:ext cx="14859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1EBDC"/>
                </a:solidFill>
              </a:defRPr>
            </a:pPr>
            <a:r>
              <a:rPr sz="1200" b="1" i="0">
                <a:solidFill>
                  <a:srgbClr val="F1EBDC"/>
                </a:solidFill>
              </a:rPr>
              <a:t>VISIBILIDADE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1" i="0">
                <a:solidFill>
                  <a:srgbClr val="F1EBDC"/>
                </a:solidFill>
              </a:defRPr>
            </a:pPr>
            <a:r>
              <a:rPr sz="1200" b="1" i="0">
                <a:solidFill>
                  <a:srgbClr val="F1EBDC"/>
                </a:solidFill>
              </a:rPr>
              <a:t>DECISÃO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1" i="0">
                <a:solidFill>
                  <a:srgbClr val="F1EBDC"/>
                </a:solidFill>
              </a:defRPr>
            </a:pPr>
            <a:r>
              <a:rPr sz="1200" b="1" i="0">
                <a:solidFill>
                  <a:srgbClr val="F1EBDC"/>
                </a:solidFill>
              </a:rPr>
              <a:t>ESCALA</a:t>
            </a:r>
          </a:p>
        </p:txBody>
      </p:sp>
    </p:spTree>
    <p:extLst>
      <p:ext uri="{BB962C8B-B14F-4D97-AF65-F5344CB8AC3E}">
        <p14:creationId xmlns:p14="http://schemas.microsoft.com/office/powerpoint/2010/main" val="20436251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21AD8D0B-201E-4096-85C1-F4A537E7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C5FE2557-B512-4135-BB06-8141CFE7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3DB1D80F-407C-4B51-8CAF-F7A8F97B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07393F4E-C8E6-40A8-BE6C-1965472A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LAYOUT 05 · CONTRATO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A62C1F6-B76B-4DFE-9286-11BD5AF4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13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A5A4FD39-A174-41A1-B862-DC6F3562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BC0E283-5346-45A0-BF0D-5DB3929D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1AF0321-093F-4FFA-9EE1-3DDAB60B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87338FF1-8289-415C-9068-612ACE72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CONTRATO DO FORECAST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2F66FE20-3E15-491F-A6FD-5DD3470C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Antes do modelo, alinhe o que será previsto</a:t>
            </a:r>
          </a:p>
        </p:txBody>
      </p:sp>
      <p:sp>
        <p:nvSpPr>
          <p:cNvPr id="11" name="contract-rule-0">
            <a:extLst xmlns:a="http://schemas.openxmlformats.org/drawingml/2006/main">
              <a:ext uri="{FF2B5EF4-FFF2-40B4-BE49-F238E27FC236}">
                <a16:creationId xmlns:a16="http://schemas.microsoft.com/office/drawing/2014/main" id="{398AE0F4-9B5A-4C3D-879A-F8EB94A5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43A2B"/>
            </a:solidFill>
            <a:prstDash val="solid"/>
          </a:ln>
        </p:spPr>
      </p:sp>
      <p:sp>
        <p:nvSpPr>
          <p:cNvPr id="12" name="contract-label-0">
            <a:extLst xmlns:a="http://schemas.openxmlformats.org/drawingml/2006/main">
              <a:ext uri="{FF2B5EF4-FFF2-40B4-BE49-F238E27FC236}">
                <a16:creationId xmlns:a16="http://schemas.microsoft.com/office/drawing/2014/main" id="{47E57698-DC4F-402D-8EF7-622FCBEB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TARGET</a:t>
            </a:r>
          </a:p>
        </p:txBody>
      </p:sp>
      <p:sp>
        <p:nvSpPr>
          <p:cNvPr id="13" name="contract-value-0">
            <a:extLst xmlns:a="http://schemas.openxmlformats.org/drawingml/2006/main">
              <a:ext uri="{FF2B5EF4-FFF2-40B4-BE49-F238E27FC236}">
                <a16:creationId xmlns:a16="http://schemas.microsoft.com/office/drawing/2014/main" id="{4DA9471D-EABD-4FE5-B0CA-0DF4F706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43A2B"/>
                </a:solidFill>
              </a:defRPr>
            </a:pPr>
            <a:r>
              <a:rPr sz="2025" b="0" i="0">
                <a:solidFill>
                  <a:srgbClr val="A43A2B"/>
                </a:solidFill>
              </a:rPr>
              <a:t>Venda em R$ ou peças</a:t>
            </a:r>
          </a:p>
        </p:txBody>
      </p:sp>
      <p:sp>
        <p:nvSpPr>
          <p:cNvPr id="14" name="contract-rule-1">
            <a:extLst xmlns:a="http://schemas.openxmlformats.org/drawingml/2006/main">
              <a:ext uri="{FF2B5EF4-FFF2-40B4-BE49-F238E27FC236}">
                <a16:creationId xmlns:a16="http://schemas.microsoft.com/office/drawing/2014/main" id="{4622CB30-1A5B-4F58-8F10-7DA3A3E4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622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1612"/>
            </a:solidFill>
            <a:prstDash val="solid"/>
          </a:ln>
        </p:spPr>
      </p:sp>
      <p:sp>
        <p:nvSpPr>
          <p:cNvPr id="15" name="contract-label-1">
            <a:extLst xmlns:a="http://schemas.openxmlformats.org/drawingml/2006/main">
              <a:ext uri="{FF2B5EF4-FFF2-40B4-BE49-F238E27FC236}">
                <a16:creationId xmlns:a16="http://schemas.microsoft.com/office/drawing/2014/main" id="{9A75175A-8CEF-4B05-BC33-8C0649D1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289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GRÃO</a:t>
            </a:r>
          </a:p>
        </p:txBody>
      </p:sp>
      <p:sp>
        <p:nvSpPr>
          <p:cNvPr id="16" name="contract-value-1">
            <a:extLst xmlns:a="http://schemas.openxmlformats.org/drawingml/2006/main">
              <a:ext uri="{FF2B5EF4-FFF2-40B4-BE49-F238E27FC236}">
                <a16:creationId xmlns:a16="http://schemas.microsoft.com/office/drawing/2014/main" id="{F46593A9-E8B4-468E-A1D2-5DCC5CA0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433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71612"/>
                </a:solidFill>
              </a:defRPr>
            </a:pPr>
            <a:r>
              <a:rPr sz="2025" b="0" i="0">
                <a:solidFill>
                  <a:srgbClr val="171612"/>
                </a:solidFill>
              </a:rPr>
              <a:t>SKU × loja × dia</a:t>
            </a:r>
          </a:p>
        </p:txBody>
      </p:sp>
      <p:sp>
        <p:nvSpPr>
          <p:cNvPr id="17" name="contract-rule-2">
            <a:extLst xmlns:a="http://schemas.openxmlformats.org/drawingml/2006/main">
              <a:ext uri="{FF2B5EF4-FFF2-40B4-BE49-F238E27FC236}">
                <a16:creationId xmlns:a16="http://schemas.microsoft.com/office/drawing/2014/main" id="{90C00436-A07F-4C34-AB6E-20F75D9E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3A329"/>
            </a:solidFill>
            <a:prstDash val="solid"/>
          </a:ln>
        </p:spPr>
      </p:sp>
      <p:sp>
        <p:nvSpPr>
          <p:cNvPr id="18" name="contract-label-2">
            <a:extLst xmlns:a="http://schemas.openxmlformats.org/drawingml/2006/main">
              <a:ext uri="{FF2B5EF4-FFF2-40B4-BE49-F238E27FC236}">
                <a16:creationId xmlns:a16="http://schemas.microsoft.com/office/drawing/2014/main" id="{D145B5BB-9FE0-44E2-8F27-C56DE27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289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HORIZONTE</a:t>
            </a:r>
          </a:p>
        </p:txBody>
      </p:sp>
      <p:sp>
        <p:nvSpPr>
          <p:cNvPr id="19" name="contract-value-2">
            <a:extLst xmlns:a="http://schemas.openxmlformats.org/drawingml/2006/main">
              <a:ext uri="{FF2B5EF4-FFF2-40B4-BE49-F238E27FC236}">
                <a16:creationId xmlns:a16="http://schemas.microsoft.com/office/drawing/2014/main" id="{A25DCC95-224B-4AE3-A5AD-B198F5B1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433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D3A329"/>
                </a:solidFill>
              </a:defRPr>
            </a:pPr>
            <a:r>
              <a:rPr sz="2025" b="0" i="0">
                <a:solidFill>
                  <a:srgbClr val="D3A329"/>
                </a:solidFill>
              </a:rPr>
              <a:t>D+1 a D+120</a:t>
            </a:r>
          </a:p>
        </p:txBody>
      </p:sp>
      <p:sp>
        <p:nvSpPr>
          <p:cNvPr id="20" name="contract-rule-3">
            <a:extLst xmlns:a="http://schemas.openxmlformats.org/drawingml/2006/main">
              <a:ext uri="{FF2B5EF4-FFF2-40B4-BE49-F238E27FC236}">
                <a16:creationId xmlns:a16="http://schemas.microsoft.com/office/drawing/2014/main" id="{9CF43375-1DAC-480C-BD10-CDEBDD10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622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6A54"/>
            </a:solidFill>
            <a:prstDash val="solid"/>
          </a:ln>
        </p:spPr>
      </p:sp>
      <p:sp>
        <p:nvSpPr>
          <p:cNvPr id="21" name="contract-label-3">
            <a:extLst xmlns:a="http://schemas.openxmlformats.org/drawingml/2006/main">
              <a:ext uri="{FF2B5EF4-FFF2-40B4-BE49-F238E27FC236}">
                <a16:creationId xmlns:a16="http://schemas.microsoft.com/office/drawing/2014/main" id="{5E76FD2B-D479-4D4A-B5A6-CC5F20BA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CICLO</a:t>
            </a:r>
          </a:p>
        </p:txBody>
      </p:sp>
      <p:sp>
        <p:nvSpPr>
          <p:cNvPr id="22" name="contract-value-3">
            <a:extLst xmlns:a="http://schemas.openxmlformats.org/drawingml/2006/main">
              <a:ext uri="{FF2B5EF4-FFF2-40B4-BE49-F238E27FC236}">
                <a16:creationId xmlns:a16="http://schemas.microsoft.com/office/drawing/2014/main" id="{6C1B29F4-5F4C-4ECB-9435-40B92205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433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356A54"/>
                </a:solidFill>
              </a:defRPr>
            </a:pPr>
            <a:r>
              <a:rPr sz="2025" b="0" i="0">
                <a:solidFill>
                  <a:srgbClr val="356A54"/>
                </a:solidFill>
              </a:rPr>
              <a:t>Revisão semanal</a:t>
            </a:r>
          </a:p>
        </p:txBody>
      </p:sp>
      <p:sp>
        <p:nvSpPr>
          <p:cNvPr id="23" name="contract-question">
            <a:extLst xmlns:a="http://schemas.openxmlformats.org/drawingml/2006/main">
              <a:ext uri="{FF2B5EF4-FFF2-40B4-BE49-F238E27FC236}">
                <a16:creationId xmlns:a16="http://schemas.microsoft.com/office/drawing/2014/main" id="{32BB31AE-E3BE-48D4-AD73-640E986D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QUAL DECISÃO ESSE CONTRATO PRECISA SUSTENTAR?</a:t>
            </a:r>
          </a:p>
        </p:txBody>
      </p:sp>
      <p:sp>
        <p:nvSpPr>
          <p:cNvPr id="24" name="contract-answer">
            <a:extLst xmlns:a="http://schemas.openxmlformats.org/drawingml/2006/main">
              <a:ext uri="{FF2B5EF4-FFF2-40B4-BE49-F238E27FC236}">
                <a16:creationId xmlns:a16="http://schemas.microsoft.com/office/drawing/2014/main" id="{74C064DE-F165-43AB-A5BE-32EE3DBB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56057"/>
                </a:solidFill>
              </a:defRPr>
            </a:pPr>
            <a:r>
              <a:rPr sz="1575" b="0" i="0">
                <a:solidFill>
                  <a:srgbClr val="656057"/>
                </a:solidFill>
              </a:rPr>
              <a:t>Orçamento · metas · S&amp;OP · alertas de desvio · fechamento</a:t>
            </a:r>
          </a:p>
        </p:txBody>
      </p:sp>
    </p:spTree>
    <p:extLst>
      <p:ext uri="{BB962C8B-B14F-4D97-AF65-F5344CB8AC3E}">
        <p14:creationId xmlns:p14="http://schemas.microsoft.com/office/powerpoint/2010/main" val="9710021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02D73EF3-BBD0-4073-B784-C87CED09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536DABD9-B046-4A1F-AD31-F97F988C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F60442FE-90D2-4B74-B71A-705D8923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579826E7-A2F0-41B4-A4AC-574267A5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LAYOUT 06 · JORNADA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C9F0233-3D71-484B-89D8-9E0E7180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14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FAB3ADEA-DCDA-4782-8D1C-15250778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00FD7C6-81A7-4768-9E34-3FEDF291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730A8E8-FAC4-42E6-8A83-3194A91C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D9F7290D-B8D7-440F-8237-B15F85D4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JORNADA DECISÓRIA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DCFC7ED3-57DE-4365-A9C5-F1D6EB85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O forecast cria valor quando chega à rotina certa</a:t>
            </a:r>
          </a:p>
        </p:txBody>
      </p:sp>
      <p:sp>
        <p:nvSpPr>
          <p:cNvPr id="11" name="journey-1">
            <a:extLst xmlns:a="http://schemas.openxmlformats.org/drawingml/2006/main">
              <a:ext uri="{FF2B5EF4-FFF2-40B4-BE49-F238E27FC236}">
                <a16:creationId xmlns:a16="http://schemas.microsoft.com/office/drawing/2014/main" id="{819BBC4A-2E18-400F-999E-1559DA26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957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5C9"/>
            </a:solidFill>
            <a:prstDash val="solid"/>
          </a:ln>
        </p:spPr>
      </p:sp>
      <p:sp>
        <p:nvSpPr>
          <p:cNvPr id="12" name="journey-2">
            <a:extLst xmlns:a="http://schemas.openxmlformats.org/drawingml/2006/main">
              <a:ext uri="{FF2B5EF4-FFF2-40B4-BE49-F238E27FC236}">
                <a16:creationId xmlns:a16="http://schemas.microsoft.com/office/drawing/2014/main" id="{DBE899A2-7321-4823-A892-33D6F1A9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957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5C9"/>
            </a:solidFill>
            <a:prstDash val="solid"/>
          </a:ln>
        </p:spPr>
      </p:sp>
      <p:sp>
        <p:nvSpPr>
          <p:cNvPr id="13" name="journey-3">
            <a:extLst xmlns:a="http://schemas.openxmlformats.org/drawingml/2006/main">
              <a:ext uri="{FF2B5EF4-FFF2-40B4-BE49-F238E27FC236}">
                <a16:creationId xmlns:a16="http://schemas.microsoft.com/office/drawing/2014/main" id="{99F29C58-78FC-4A03-9A60-0034E496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5C9"/>
            </a:solidFill>
            <a:prstDash val="solid"/>
          </a:ln>
        </p:spPr>
      </p:sp>
      <p:sp>
        <p:nvSpPr>
          <p:cNvPr id="14" name="journey-circle-0">
            <a:extLst xmlns:a="http://schemas.openxmlformats.org/drawingml/2006/main">
              <a:ext uri="{FF2B5EF4-FFF2-40B4-BE49-F238E27FC236}">
                <a16:creationId xmlns:a16="http://schemas.microsoft.com/office/drawing/2014/main" id="{22750FD0-B308-44B7-A696-88747206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journey-num-0">
            <a:extLst xmlns:a="http://schemas.openxmlformats.org/drawingml/2006/main">
              <a:ext uri="{FF2B5EF4-FFF2-40B4-BE49-F238E27FC236}">
                <a16:creationId xmlns:a16="http://schemas.microsoft.com/office/drawing/2014/main" id="{AACD4293-23FE-49B1-A310-7CB5DACA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1EBDC"/>
                </a:solidFill>
              </a:defRPr>
            </a:pPr>
            <a:r>
              <a:rPr sz="1050" b="1" i="0">
                <a:solidFill>
                  <a:srgbClr val="F1EBDC"/>
                </a:solidFill>
              </a:rPr>
              <a:t>01</a:t>
            </a:r>
          </a:p>
        </p:txBody>
      </p:sp>
      <p:sp>
        <p:nvSpPr>
          <p:cNvPr id="16" name="journey-title-0">
            <a:extLst xmlns:a="http://schemas.openxmlformats.org/drawingml/2006/main">
              <a:ext uri="{FF2B5EF4-FFF2-40B4-BE49-F238E27FC236}">
                <a16:creationId xmlns:a16="http://schemas.microsoft.com/office/drawing/2014/main" id="{F80395AC-21AD-4D19-80E7-F4DA7038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624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1612"/>
                </a:solidFill>
              </a:defRPr>
            </a:pPr>
            <a:r>
              <a:rPr sz="975" b="1" i="0">
                <a:solidFill>
                  <a:srgbClr val="171612"/>
                </a:solidFill>
              </a:rPr>
              <a:t>DADOS</a:t>
            </a:r>
          </a:p>
        </p:txBody>
      </p:sp>
      <p:sp>
        <p:nvSpPr>
          <p:cNvPr id="17" name="journey-copy-0">
            <a:extLst xmlns:a="http://schemas.openxmlformats.org/drawingml/2006/main">
              <a:ext uri="{FF2B5EF4-FFF2-40B4-BE49-F238E27FC236}">
                <a16:creationId xmlns:a16="http://schemas.microsoft.com/office/drawing/2014/main" id="{E5F861DE-6520-41A1-9FC8-3394F0CF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810125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56057"/>
                </a:solidFill>
              </a:defRPr>
            </a:pPr>
            <a:r>
              <a:rPr sz="1275" b="0" i="0">
                <a:solidFill>
                  <a:srgbClr val="656057"/>
                </a:solidFill>
              </a:rPr>
              <a:t>snapshot e qualidade</a:t>
            </a:r>
          </a:p>
        </p:txBody>
      </p:sp>
      <p:sp>
        <p:nvSpPr>
          <p:cNvPr id="18" name="journey-circle-1">
            <a:extLst xmlns:a="http://schemas.openxmlformats.org/drawingml/2006/main">
              <a:ext uri="{FF2B5EF4-FFF2-40B4-BE49-F238E27FC236}">
                <a16:creationId xmlns:a16="http://schemas.microsoft.com/office/drawing/2014/main" id="{1FE9C916-E960-41CF-B6E7-9C122713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1945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journey-num-1">
            <a:extLst xmlns:a="http://schemas.openxmlformats.org/drawingml/2006/main">
              <a:ext uri="{FF2B5EF4-FFF2-40B4-BE49-F238E27FC236}">
                <a16:creationId xmlns:a16="http://schemas.microsoft.com/office/drawing/2014/main" id="{811EE679-4C80-49C2-AB04-6ACE77EF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433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1EBDC"/>
                </a:solidFill>
              </a:defRPr>
            </a:pPr>
            <a:r>
              <a:rPr sz="1050" b="1" i="0">
                <a:solidFill>
                  <a:srgbClr val="F1EBDC"/>
                </a:solidFill>
              </a:rPr>
              <a:t>02</a:t>
            </a:r>
          </a:p>
        </p:txBody>
      </p:sp>
      <p:sp>
        <p:nvSpPr>
          <p:cNvPr id="20" name="journey-title-1">
            <a:extLst xmlns:a="http://schemas.openxmlformats.org/drawingml/2006/main">
              <a:ext uri="{FF2B5EF4-FFF2-40B4-BE49-F238E27FC236}">
                <a16:creationId xmlns:a16="http://schemas.microsoft.com/office/drawing/2014/main" id="{C12AA969-DB17-40A1-B4A5-82814F6A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3624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1612"/>
                </a:solidFill>
              </a:defRPr>
            </a:pPr>
            <a:r>
              <a:rPr sz="975" b="1" i="0">
                <a:solidFill>
                  <a:srgbClr val="171612"/>
                </a:solidFill>
              </a:rPr>
              <a:t>MODELO</a:t>
            </a:r>
          </a:p>
        </p:txBody>
      </p:sp>
      <p:sp>
        <p:nvSpPr>
          <p:cNvPr id="21" name="journey-copy-1">
            <a:extLst xmlns:a="http://schemas.openxmlformats.org/drawingml/2006/main">
              <a:ext uri="{FF2B5EF4-FFF2-40B4-BE49-F238E27FC236}">
                <a16:creationId xmlns:a16="http://schemas.microsoft.com/office/drawing/2014/main" id="{48C754F8-0239-470B-AC85-5303B4D4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810125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56057"/>
                </a:solidFill>
              </a:defRPr>
            </a:pPr>
            <a:r>
              <a:rPr sz="1275" b="0" i="0">
                <a:solidFill>
                  <a:srgbClr val="656057"/>
                </a:solidFill>
              </a:rPr>
              <a:t>previsão e incerteza</a:t>
            </a:r>
          </a:p>
        </p:txBody>
      </p:sp>
      <p:sp>
        <p:nvSpPr>
          <p:cNvPr id="22" name="journey-circle-2">
            <a:extLst xmlns:a="http://schemas.openxmlformats.org/drawingml/2006/main">
              <a:ext uri="{FF2B5EF4-FFF2-40B4-BE49-F238E27FC236}">
                <a16:creationId xmlns:a16="http://schemas.microsoft.com/office/drawing/2014/main" id="{34FDEACF-4D85-429A-930E-F7A59421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journey-num-2">
            <a:extLst xmlns:a="http://schemas.openxmlformats.org/drawingml/2006/main">
              <a:ext uri="{FF2B5EF4-FFF2-40B4-BE49-F238E27FC236}">
                <a16:creationId xmlns:a16="http://schemas.microsoft.com/office/drawing/2014/main" id="{01D01877-7A4F-4057-9371-20EA337A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33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1EBDC"/>
                </a:solidFill>
              </a:defRPr>
            </a:pPr>
            <a:r>
              <a:rPr sz="1050" b="1" i="0">
                <a:solidFill>
                  <a:srgbClr val="F1EBDC"/>
                </a:solidFill>
              </a:rPr>
              <a:t>03</a:t>
            </a:r>
          </a:p>
        </p:txBody>
      </p:sp>
      <p:sp>
        <p:nvSpPr>
          <p:cNvPr id="24" name="journey-title-2">
            <a:extLst xmlns:a="http://schemas.openxmlformats.org/drawingml/2006/main">
              <a:ext uri="{FF2B5EF4-FFF2-40B4-BE49-F238E27FC236}">
                <a16:creationId xmlns:a16="http://schemas.microsoft.com/office/drawing/2014/main" id="{D222CC43-71AD-48E2-A1AB-74DFBE14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624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1612"/>
                </a:solidFill>
              </a:defRPr>
            </a:pPr>
            <a:r>
              <a:rPr sz="975" b="1" i="0">
                <a:solidFill>
                  <a:srgbClr val="171612"/>
                </a:solidFill>
              </a:rPr>
              <a:t>CONSUMO</a:t>
            </a:r>
          </a:p>
        </p:txBody>
      </p:sp>
      <p:sp>
        <p:nvSpPr>
          <p:cNvPr id="25" name="journey-copy-2">
            <a:extLst xmlns:a="http://schemas.openxmlformats.org/drawingml/2006/main">
              <a:ext uri="{FF2B5EF4-FFF2-40B4-BE49-F238E27FC236}">
                <a16:creationId xmlns:a16="http://schemas.microsoft.com/office/drawing/2014/main" id="{5295A920-F272-4729-8CE3-B67C5AB3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810125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56057"/>
                </a:solidFill>
              </a:defRPr>
            </a:pPr>
            <a:r>
              <a:rPr sz="1275" b="0" i="0">
                <a:solidFill>
                  <a:srgbClr val="656057"/>
                </a:solidFill>
              </a:rPr>
              <a:t>relatório e alerta</a:t>
            </a:r>
          </a:p>
        </p:txBody>
      </p:sp>
      <p:sp>
        <p:nvSpPr>
          <p:cNvPr id="26" name="journey-circle-3">
            <a:extLst xmlns:a="http://schemas.openxmlformats.org/drawingml/2006/main">
              <a:ext uri="{FF2B5EF4-FFF2-40B4-BE49-F238E27FC236}">
                <a16:creationId xmlns:a16="http://schemas.microsoft.com/office/drawing/2014/main" id="{600C172B-F7C6-430B-ADB7-D3B3ED72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1945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journey-num-3">
            <a:extLst xmlns:a="http://schemas.openxmlformats.org/drawingml/2006/main">
              <a:ext uri="{FF2B5EF4-FFF2-40B4-BE49-F238E27FC236}">
                <a16:creationId xmlns:a16="http://schemas.microsoft.com/office/drawing/2014/main" id="{7F0A1BF5-E891-4476-849E-61D69E85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5433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1EBDC"/>
                </a:solidFill>
              </a:defRPr>
            </a:pPr>
            <a:r>
              <a:rPr sz="1050" b="1" i="0">
                <a:solidFill>
                  <a:srgbClr val="F1EBDC"/>
                </a:solidFill>
              </a:rPr>
              <a:t>04</a:t>
            </a:r>
          </a:p>
        </p:txBody>
      </p:sp>
      <p:sp>
        <p:nvSpPr>
          <p:cNvPr id="28" name="journey-title-3">
            <a:extLst xmlns:a="http://schemas.openxmlformats.org/drawingml/2006/main">
              <a:ext uri="{FF2B5EF4-FFF2-40B4-BE49-F238E27FC236}">
                <a16:creationId xmlns:a16="http://schemas.microsoft.com/office/drawing/2014/main" id="{9289BB97-64DC-4333-8DCD-29BB1C96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3624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1612"/>
                </a:solidFill>
              </a:defRPr>
            </a:pPr>
            <a:r>
              <a:rPr sz="975" b="1" i="0">
                <a:solidFill>
                  <a:srgbClr val="171612"/>
                </a:solidFill>
              </a:rPr>
              <a:t>DECISÃO</a:t>
            </a:r>
          </a:p>
        </p:txBody>
      </p:sp>
      <p:sp>
        <p:nvSpPr>
          <p:cNvPr id="29" name="journey-copy-3">
            <a:extLst xmlns:a="http://schemas.openxmlformats.org/drawingml/2006/main">
              <a:ext uri="{FF2B5EF4-FFF2-40B4-BE49-F238E27FC236}">
                <a16:creationId xmlns:a16="http://schemas.microsoft.com/office/drawing/2014/main" id="{69456607-6B2B-48CC-9CFD-64079704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810125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56057"/>
                </a:solidFill>
              </a:defRPr>
            </a:pPr>
            <a:r>
              <a:rPr sz="1275" b="0" i="0">
                <a:solidFill>
                  <a:srgbClr val="656057"/>
                </a:solidFill>
              </a:rPr>
              <a:t>ação e feedback</a:t>
            </a:r>
          </a:p>
        </p:txBody>
      </p:sp>
    </p:spTree>
    <p:extLst>
      <p:ext uri="{BB962C8B-B14F-4D97-AF65-F5344CB8AC3E}">
        <p14:creationId xmlns:p14="http://schemas.microsoft.com/office/powerpoint/2010/main" val="10702195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DF43B7E3-A2ED-4F2D-BB71-13C4AB3B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9C037B52-249B-4A2E-9CB7-892C0804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7D824767-5ACC-4E57-97A0-4C34EC2C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47CEC965-6023-4389-9DD5-7DCBF326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LAYOUT 07 · DADOS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13EF13B-F714-47D1-AA2B-30F9D9D8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15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6C9FAC2D-3B54-4066-AD6E-48CB755F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E820840-D320-4B22-91A4-BB70235C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BA85CDE-3D2D-42E4-95F6-A46E0908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BEF84F1E-6ADE-455A-96A8-FE344D16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QUALIDADE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BB86E2A8-BC0D-4CC7-BCD6-20C68B2F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A previsão herda os limites do dado</a:t>
            </a:r>
          </a:p>
        </p:txBody>
      </p:sp>
      <p:sp>
        <p:nvSpPr>
          <p:cNvPr id="11" name="subtitle">
            <a:extLst xmlns:a="http://schemas.openxmlformats.org/drawingml/2006/main">
              <a:ext uri="{FF2B5EF4-FFF2-40B4-BE49-F238E27FC236}">
                <a16:creationId xmlns:a16="http://schemas.microsoft.com/office/drawing/2014/main" id="{59D6510E-2184-4EDB-AAB0-6FA2261C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56057"/>
                </a:solidFill>
              </a:defRPr>
            </a:pPr>
            <a:r>
              <a:rPr sz="1425" b="0" i="0">
                <a:solidFill>
                  <a:srgbClr val="656057"/>
                </a:solidFill>
              </a:rPr>
              <a:t>Mostre o que foi encontrado, como foi tratado e qual risco permanece.</a:t>
            </a:r>
          </a:p>
        </p:txBody>
      </p:sp>
      <p:sp>
        <p:nvSpPr>
          <p:cNvPr id="12" name="quality-a-0">
            <a:extLst xmlns:a="http://schemas.openxmlformats.org/drawingml/2006/main">
              <a:ext uri="{FF2B5EF4-FFF2-40B4-BE49-F238E27FC236}">
                <a16:creationId xmlns:a16="http://schemas.microsoft.com/office/drawing/2014/main" id="{B666A862-E2B8-4BCC-821D-F742DC3C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AUSÊNCIAS</a:t>
            </a:r>
          </a:p>
        </p:txBody>
      </p:sp>
      <p:sp>
        <p:nvSpPr>
          <p:cNvPr id="13" name="quality-b-0">
            <a:extLst xmlns:a="http://schemas.openxmlformats.org/drawingml/2006/main">
              <a:ext uri="{FF2B5EF4-FFF2-40B4-BE49-F238E27FC236}">
                <a16:creationId xmlns:a16="http://schemas.microsoft.com/office/drawing/2014/main" id="{9730203C-199D-40DE-ABDE-538FC414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1612"/>
                </a:solidFill>
              </a:defRPr>
            </a:pPr>
            <a:r>
              <a:rPr sz="1500" b="0" i="0">
                <a:solidFill>
                  <a:srgbClr val="171612"/>
                </a:solidFill>
              </a:rPr>
              <a:t>malha completa + flag</a:t>
            </a:r>
          </a:p>
        </p:txBody>
      </p:sp>
      <p:sp>
        <p:nvSpPr>
          <p:cNvPr id="14" name="quality-c-0">
            <a:extLst xmlns:a="http://schemas.openxmlformats.org/drawingml/2006/main">
              <a:ext uri="{FF2B5EF4-FFF2-40B4-BE49-F238E27FC236}">
                <a16:creationId xmlns:a16="http://schemas.microsoft.com/office/drawing/2014/main" id="{92C20244-BC9E-4847-B50A-7B6E34CA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risco moderado</a:t>
            </a:r>
          </a:p>
        </p:txBody>
      </p:sp>
      <p:sp>
        <p:nvSpPr>
          <p:cNvPr id="15" name="quality-line-0">
            <a:extLst xmlns:a="http://schemas.openxmlformats.org/drawingml/2006/main">
              <a:ext uri="{FF2B5EF4-FFF2-40B4-BE49-F238E27FC236}">
                <a16:creationId xmlns:a16="http://schemas.microsoft.com/office/drawing/2014/main" id="{DB5B4E6A-DF58-422C-B526-2F7651A4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6" name="quality-a-1">
            <a:extLst xmlns:a="http://schemas.openxmlformats.org/drawingml/2006/main">
              <a:ext uri="{FF2B5EF4-FFF2-40B4-BE49-F238E27FC236}">
                <a16:creationId xmlns:a16="http://schemas.microsoft.com/office/drawing/2014/main" id="{3E1A0463-535E-41FA-9F3E-25FC88FE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OUTLIERS</a:t>
            </a:r>
          </a:p>
        </p:txBody>
      </p:sp>
      <p:sp>
        <p:nvSpPr>
          <p:cNvPr id="17" name="quality-b-1">
            <a:extLst xmlns:a="http://schemas.openxmlformats.org/drawingml/2006/main">
              <a:ext uri="{FF2B5EF4-FFF2-40B4-BE49-F238E27FC236}">
                <a16:creationId xmlns:a16="http://schemas.microsoft.com/office/drawing/2014/main" id="{88B45B4A-4A97-4D7F-A70B-5CC7423B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909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1612"/>
                </a:solidFill>
              </a:defRPr>
            </a:pPr>
            <a:r>
              <a:rPr sz="1500" b="0" i="0">
                <a:solidFill>
                  <a:srgbClr val="171612"/>
                </a:solidFill>
              </a:rPr>
              <a:t>regra robusta + auditoria</a:t>
            </a:r>
          </a:p>
        </p:txBody>
      </p:sp>
      <p:sp>
        <p:nvSpPr>
          <p:cNvPr id="18" name="quality-c-1">
            <a:extLst xmlns:a="http://schemas.openxmlformats.org/drawingml/2006/main">
              <a:ext uri="{FF2B5EF4-FFF2-40B4-BE49-F238E27FC236}">
                <a16:creationId xmlns:a16="http://schemas.microsoft.com/office/drawing/2014/main" id="{F366A084-DBA4-41F3-B7F6-51E1D93C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risco controlado</a:t>
            </a:r>
          </a:p>
        </p:txBody>
      </p:sp>
      <p:sp>
        <p:nvSpPr>
          <p:cNvPr id="19" name="quality-line-1">
            <a:extLst xmlns:a="http://schemas.openxmlformats.org/drawingml/2006/main">
              <a:ext uri="{FF2B5EF4-FFF2-40B4-BE49-F238E27FC236}">
                <a16:creationId xmlns:a16="http://schemas.microsoft.com/office/drawing/2014/main" id="{67912C5B-E3E4-4A06-8C16-2AA53894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20" name="quality-a-2">
            <a:extLst xmlns:a="http://schemas.openxmlformats.org/drawingml/2006/main">
              <a:ext uri="{FF2B5EF4-FFF2-40B4-BE49-F238E27FC236}">
                <a16:creationId xmlns:a16="http://schemas.microsoft.com/office/drawing/2014/main" id="{94A60340-D623-470A-9F47-C679BA1E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CALENDÁRIO</a:t>
            </a:r>
          </a:p>
        </p:txBody>
      </p:sp>
      <p:sp>
        <p:nvSpPr>
          <p:cNvPr id="21" name="quality-b-2">
            <a:extLst xmlns:a="http://schemas.openxmlformats.org/drawingml/2006/main">
              <a:ext uri="{FF2B5EF4-FFF2-40B4-BE49-F238E27FC236}">
                <a16:creationId xmlns:a16="http://schemas.microsoft.com/office/drawing/2014/main" id="{7EC83113-4FF4-4BF6-9F4D-AF0D9610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338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1612"/>
                </a:solidFill>
              </a:defRPr>
            </a:pPr>
            <a:r>
              <a:rPr sz="1500" b="0" i="0">
                <a:solidFill>
                  <a:srgbClr val="171612"/>
                </a:solidFill>
              </a:rPr>
              <a:t>cutoff e eventos conhecidos</a:t>
            </a:r>
          </a:p>
        </p:txBody>
      </p:sp>
      <p:sp>
        <p:nvSpPr>
          <p:cNvPr id="22" name="quality-c-2">
            <a:extLst xmlns:a="http://schemas.openxmlformats.org/drawingml/2006/main">
              <a:ext uri="{FF2B5EF4-FFF2-40B4-BE49-F238E27FC236}">
                <a16:creationId xmlns:a16="http://schemas.microsoft.com/office/drawing/2014/main" id="{23DBF684-3B6F-4693-B4FA-C32D4EC2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7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56A54"/>
                </a:solidFill>
              </a:defRPr>
            </a:pPr>
            <a:r>
              <a:rPr sz="900" b="1" i="0">
                <a:solidFill>
                  <a:srgbClr val="356A54"/>
                </a:solidFill>
              </a:rPr>
              <a:t>sem leakage</a:t>
            </a:r>
          </a:p>
        </p:txBody>
      </p:sp>
      <p:sp>
        <p:nvSpPr>
          <p:cNvPr id="23" name="quality-line-2">
            <a:extLst xmlns:a="http://schemas.openxmlformats.org/drawingml/2006/main">
              <a:ext uri="{FF2B5EF4-FFF2-40B4-BE49-F238E27FC236}">
                <a16:creationId xmlns:a16="http://schemas.microsoft.com/office/drawing/2014/main" id="{987B4357-E8E0-40BC-B7A3-1C0B04A7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24" name="quality-a-3">
            <a:extLst xmlns:a="http://schemas.openxmlformats.org/drawingml/2006/main">
              <a:ext uri="{FF2B5EF4-FFF2-40B4-BE49-F238E27FC236}">
                <a16:creationId xmlns:a16="http://schemas.microsoft.com/office/drawing/2014/main" id="{0BF3DD80-C8CE-4AAA-A44E-155D37F4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COBERTURA</a:t>
            </a:r>
          </a:p>
        </p:txBody>
      </p:sp>
      <p:sp>
        <p:nvSpPr>
          <p:cNvPr id="25" name="quality-b-3">
            <a:extLst xmlns:a="http://schemas.openxmlformats.org/drawingml/2006/main">
              <a:ext uri="{FF2B5EF4-FFF2-40B4-BE49-F238E27FC236}">
                <a16:creationId xmlns:a16="http://schemas.microsoft.com/office/drawing/2014/main" id="{D6A243BA-B5AE-4171-BF1B-C9889D27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1612"/>
                </a:solidFill>
              </a:defRPr>
            </a:pPr>
            <a:r>
              <a:rPr sz="1500" b="0" i="0">
                <a:solidFill>
                  <a:srgbClr val="171612"/>
                </a:solidFill>
              </a:rPr>
              <a:t>janela mínima por série</a:t>
            </a:r>
          </a:p>
        </p:txBody>
      </p:sp>
      <p:sp>
        <p:nvSpPr>
          <p:cNvPr id="26" name="quality-c-3">
            <a:extLst xmlns:a="http://schemas.openxmlformats.org/drawingml/2006/main">
              <a:ext uri="{FF2B5EF4-FFF2-40B4-BE49-F238E27FC236}">
                <a16:creationId xmlns:a16="http://schemas.microsoft.com/office/drawing/2014/main" id="{3B04756D-CF7E-44DA-B1C7-FE7F4D3B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14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segmentação necessária</a:t>
            </a:r>
          </a:p>
        </p:txBody>
      </p:sp>
      <p:sp>
        <p:nvSpPr>
          <p:cNvPr id="27" name="quality-line-3">
            <a:extLst xmlns:a="http://schemas.openxmlformats.org/drawingml/2006/main">
              <a:ext uri="{FF2B5EF4-FFF2-40B4-BE49-F238E27FC236}">
                <a16:creationId xmlns:a16="http://schemas.microsoft.com/office/drawing/2014/main" id="{9D8AEF67-1A36-4E8C-8641-62B76E4E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59323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74B07266-BB3E-4BB5-A4AE-FD6A21FC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61515C4C-489B-4F07-B4D4-25C7F67F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7D3B916E-1625-4306-A8BF-896FFFCA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10639666-33A0-4C71-A7F9-8B1B77FE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LAYOUT 08 · FEATURES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0142820-E110-44D1-8D64-42A9ABFB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16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2AAFE6D9-2F7E-4FB6-8795-025E2438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9E57B7E-7492-4DEE-8DA2-FC27F7C7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F53DBC9-A998-42B2-8070-30A1FAEC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3FB455E0-CFD8-4C1F-8BC8-14611E21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FEATURE ENGINEERING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7FD9CD11-04E9-451F-BF69-3A28CD5C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O modelo aprende apenas o que existia no cutoff</a:t>
            </a:r>
          </a:p>
        </p:txBody>
      </p:sp>
      <p:sp>
        <p:nvSpPr>
          <p:cNvPr id="11" name="feat-rule-0">
            <a:extLst xmlns:a="http://schemas.openxmlformats.org/drawingml/2006/main">
              <a:ext uri="{FF2B5EF4-FFF2-40B4-BE49-F238E27FC236}">
                <a16:creationId xmlns:a16="http://schemas.microsoft.com/office/drawing/2014/main" id="{24D6AA57-F92D-4AF3-8F03-520A71EC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1612"/>
            </a:solidFill>
            <a:prstDash val="solid"/>
          </a:ln>
        </p:spPr>
      </p:sp>
      <p:sp>
        <p:nvSpPr>
          <p:cNvPr id="12" name="feat-title-0">
            <a:extLst xmlns:a="http://schemas.openxmlformats.org/drawingml/2006/main">
              <a:ext uri="{FF2B5EF4-FFF2-40B4-BE49-F238E27FC236}">
                <a16:creationId xmlns:a16="http://schemas.microsoft.com/office/drawing/2014/main" id="{F4A1795A-F869-4901-9747-AEAC57E8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1612"/>
                </a:solidFill>
              </a:defRPr>
            </a:pPr>
            <a:r>
              <a:rPr sz="975" b="1" i="0">
                <a:solidFill>
                  <a:srgbClr val="171612"/>
                </a:solidFill>
              </a:rPr>
              <a:t>HISTÓRICO</a:t>
            </a:r>
          </a:p>
        </p:txBody>
      </p:sp>
      <p:sp>
        <p:nvSpPr>
          <p:cNvPr id="13" name="feat-copy-0">
            <a:extLst xmlns:a="http://schemas.openxmlformats.org/drawingml/2006/main">
              <a:ext uri="{FF2B5EF4-FFF2-40B4-BE49-F238E27FC236}">
                <a16:creationId xmlns:a16="http://schemas.microsoft.com/office/drawing/2014/main" id="{A20C1AB4-5438-4216-837F-A808A1BB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612"/>
                </a:solidFill>
              </a:defRPr>
            </a:pPr>
            <a:r>
              <a:rPr sz="1875" b="0" i="0">
                <a:solidFill>
                  <a:srgbClr val="171612"/>
                </a:solidFill>
              </a:rPr>
              <a:t>lags · médias móveis</a:t>
            </a:r>
          </a:p>
        </p:txBody>
      </p:sp>
      <p:sp>
        <p:nvSpPr>
          <p:cNvPr id="14" name="feat-rule-1">
            <a:extLst xmlns:a="http://schemas.openxmlformats.org/drawingml/2006/main">
              <a:ext uri="{FF2B5EF4-FFF2-40B4-BE49-F238E27FC236}">
                <a16:creationId xmlns:a16="http://schemas.microsoft.com/office/drawing/2014/main" id="{CD0C315D-5318-46F9-814F-0E022BEE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6670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43A2B"/>
            </a:solidFill>
            <a:prstDash val="solid"/>
          </a:ln>
        </p:spPr>
      </p:sp>
      <p:sp>
        <p:nvSpPr>
          <p:cNvPr id="15" name="feat-title-1">
            <a:extLst xmlns:a="http://schemas.openxmlformats.org/drawingml/2006/main">
              <a:ext uri="{FF2B5EF4-FFF2-40B4-BE49-F238E27FC236}">
                <a16:creationId xmlns:a16="http://schemas.microsoft.com/office/drawing/2014/main" id="{4309C431-401F-4D3A-9B47-A04D5ADA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33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43A2B"/>
                </a:solidFill>
              </a:defRPr>
            </a:pPr>
            <a:r>
              <a:rPr sz="975" b="1" i="0">
                <a:solidFill>
                  <a:srgbClr val="A43A2B"/>
                </a:solidFill>
              </a:rPr>
              <a:t>CALENDÁRIO</a:t>
            </a:r>
          </a:p>
        </p:txBody>
      </p:sp>
      <p:sp>
        <p:nvSpPr>
          <p:cNvPr id="16" name="feat-copy-1">
            <a:extLst xmlns:a="http://schemas.openxmlformats.org/drawingml/2006/main">
              <a:ext uri="{FF2B5EF4-FFF2-40B4-BE49-F238E27FC236}">
                <a16:creationId xmlns:a16="http://schemas.microsoft.com/office/drawing/2014/main" id="{BFA8F410-B1D5-4FCC-9750-9BAA873E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3813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612"/>
                </a:solidFill>
              </a:defRPr>
            </a:pPr>
            <a:r>
              <a:rPr sz="1875" b="0" i="0">
                <a:solidFill>
                  <a:srgbClr val="171612"/>
                </a:solidFill>
              </a:rPr>
              <a:t>semana · mês · evento</a:t>
            </a:r>
          </a:p>
        </p:txBody>
      </p:sp>
      <p:sp>
        <p:nvSpPr>
          <p:cNvPr id="17" name="feat-rule-2">
            <a:extLst xmlns:a="http://schemas.openxmlformats.org/drawingml/2006/main">
              <a:ext uri="{FF2B5EF4-FFF2-40B4-BE49-F238E27FC236}">
                <a16:creationId xmlns:a16="http://schemas.microsoft.com/office/drawing/2014/main" id="{A0AA3FA8-427A-40DE-AD3D-2121FC98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3A329"/>
            </a:solidFill>
            <a:prstDash val="solid"/>
          </a:ln>
        </p:spPr>
      </p:sp>
      <p:sp>
        <p:nvSpPr>
          <p:cNvPr id="18" name="feat-title-2">
            <a:extLst xmlns:a="http://schemas.openxmlformats.org/drawingml/2006/main">
              <a:ext uri="{FF2B5EF4-FFF2-40B4-BE49-F238E27FC236}">
                <a16:creationId xmlns:a16="http://schemas.microsoft.com/office/drawing/2014/main" id="{E286C2C9-6EFD-4785-83C5-57B857ED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3A329"/>
                </a:solidFill>
              </a:defRPr>
            </a:pPr>
            <a:r>
              <a:rPr sz="975" b="1" i="0">
                <a:solidFill>
                  <a:srgbClr val="D3A329"/>
                </a:solidFill>
              </a:rPr>
              <a:t>NEGÓCIO</a:t>
            </a:r>
          </a:p>
        </p:txBody>
      </p:sp>
      <p:sp>
        <p:nvSpPr>
          <p:cNvPr id="19" name="feat-copy-2">
            <a:extLst xmlns:a="http://schemas.openxmlformats.org/drawingml/2006/main">
              <a:ext uri="{FF2B5EF4-FFF2-40B4-BE49-F238E27FC236}">
                <a16:creationId xmlns:a16="http://schemas.microsoft.com/office/drawing/2014/main" id="{04DE0CC9-1A00-4DCA-BD3C-30660884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612"/>
                </a:solidFill>
              </a:defRPr>
            </a:pPr>
            <a:r>
              <a:rPr sz="1875" b="0" i="0">
                <a:solidFill>
                  <a:srgbClr val="171612"/>
                </a:solidFill>
              </a:rPr>
              <a:t>preço · promoção · loja</a:t>
            </a:r>
          </a:p>
        </p:txBody>
      </p:sp>
      <p:sp>
        <p:nvSpPr>
          <p:cNvPr id="20" name="feat-rule-3">
            <a:extLst xmlns:a="http://schemas.openxmlformats.org/drawingml/2006/main">
              <a:ext uri="{FF2B5EF4-FFF2-40B4-BE49-F238E27FC236}">
                <a16:creationId xmlns:a16="http://schemas.microsoft.com/office/drawing/2014/main" id="{4B837379-0D56-41E0-B750-C2D26640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1433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6A54"/>
            </a:solidFill>
            <a:prstDash val="solid"/>
          </a:ln>
        </p:spPr>
      </p:sp>
      <p:sp>
        <p:nvSpPr>
          <p:cNvPr id="21" name="feat-title-3">
            <a:extLst xmlns:a="http://schemas.openxmlformats.org/drawingml/2006/main">
              <a:ext uri="{FF2B5EF4-FFF2-40B4-BE49-F238E27FC236}">
                <a16:creationId xmlns:a16="http://schemas.microsoft.com/office/drawing/2014/main" id="{215D6CF4-EE63-40C9-9F18-30C1BCC2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4100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56A54"/>
                </a:solidFill>
              </a:defRPr>
            </a:pPr>
            <a:r>
              <a:rPr sz="975" b="1" i="0">
                <a:solidFill>
                  <a:srgbClr val="356A54"/>
                </a:solidFill>
              </a:rPr>
              <a:t>QUALIDADE</a:t>
            </a:r>
          </a:p>
        </p:txBody>
      </p:sp>
      <p:sp>
        <p:nvSpPr>
          <p:cNvPr id="22" name="feat-copy-3">
            <a:extLst xmlns:a="http://schemas.openxmlformats.org/drawingml/2006/main">
              <a:ext uri="{FF2B5EF4-FFF2-40B4-BE49-F238E27FC236}">
                <a16:creationId xmlns:a16="http://schemas.microsoft.com/office/drawing/2014/main" id="{FD137899-358D-4AB4-A57A-1E1C649B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857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612"/>
                </a:solidFill>
              </a:defRPr>
            </a:pPr>
            <a:r>
              <a:rPr sz="1875" b="0" i="0">
                <a:solidFill>
                  <a:srgbClr val="171612"/>
                </a:solidFill>
              </a:rPr>
              <a:t>imputação · cobertura</a:t>
            </a:r>
          </a:p>
        </p:txBody>
      </p:sp>
      <p:sp>
        <p:nvSpPr>
          <p:cNvPr id="23" name="feat-warning">
            <a:extLst xmlns:a="http://schemas.openxmlformats.org/drawingml/2006/main">
              <a:ext uri="{FF2B5EF4-FFF2-40B4-BE49-F238E27FC236}">
                <a16:creationId xmlns:a16="http://schemas.microsoft.com/office/drawing/2014/main" id="{3B060198-EA27-40ED-9FB2-B926719A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43A2B"/>
                </a:solidFill>
              </a:defRPr>
            </a:pPr>
            <a:r>
              <a:rPr sz="975" b="1" i="0">
                <a:solidFill>
                  <a:srgbClr val="A43A2B"/>
                </a:solidFill>
              </a:rPr>
              <a:t>REGRA DE OURO  →  feature disponível no treino e no momento da previsão</a:t>
            </a:r>
          </a:p>
        </p:txBody>
      </p:sp>
    </p:spTree>
    <p:extLst>
      <p:ext uri="{BB962C8B-B14F-4D97-AF65-F5344CB8AC3E}">
        <p14:creationId xmlns:p14="http://schemas.microsoft.com/office/powerpoint/2010/main" val="3165849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1D330643-691D-43CA-932B-76DA495E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10ABF6DA-CBDF-4537-ACFB-F388FEC4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A7A3721D-1A98-4FDD-A2EC-047FF319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85A348FD-6BF5-4365-90CA-8EDD5EDC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LAYOUT 09 · EXPERIMENTAÇÃO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3D6FFD6-7153-4FD7-8D43-616BDE62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17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E52B978A-60CF-4FA7-8CDD-AA387DA5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D35951-28FA-420C-A11C-88E55FF7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45EEE7D-ECAD-4A16-8C9B-0EDE6A27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CD00C6FB-F34B-4D37-86DA-1DEE85CC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MODELOS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9B7405BD-D248-4B50-80E4-D85A2E6F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O vencedor é o que permanece útil fora da amostra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2762250"/>
          <a:ext xmlns:a="http://schemas.openxmlformats.org/drawingml/2006/main" cx="66675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a1737491ce4b5c"/>
          </a:graphicData>
        </a:graphic>
      </p:graphicFrame>
      <p:sp>
        <p:nvSpPr>
          <p:cNvPr id="12" name="model-callout">
            <a:extLst xmlns:a="http://schemas.openxmlformats.org/drawingml/2006/main">
              <a:ext uri="{FF2B5EF4-FFF2-40B4-BE49-F238E27FC236}">
                <a16:creationId xmlns:a16="http://schemas.microsoft.com/office/drawing/2014/main" id="{DF5E8C19-A955-4D42-ABC4-67CC994C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0512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0" i="0">
                <a:solidFill>
                  <a:srgbClr val="A43A2B"/>
                </a:solidFill>
              </a:defRPr>
            </a:pPr>
            <a:r>
              <a:rPr sz="3600" b="0" i="0">
                <a:solidFill>
                  <a:srgbClr val="A43A2B"/>
                </a:solidFill>
              </a:rPr>
              <a:t>7,8%</a:t>
            </a:r>
          </a:p>
        </p:txBody>
      </p:sp>
      <p:sp>
        <p:nvSpPr>
          <p:cNvPr id="13" name="model-callout-label">
            <a:extLst xmlns:a="http://schemas.openxmlformats.org/drawingml/2006/main">
              <a:ext uri="{FF2B5EF4-FFF2-40B4-BE49-F238E27FC236}">
                <a16:creationId xmlns:a16="http://schemas.microsoft.com/office/drawing/2014/main" id="{3674A974-9D32-4958-BF0F-643378D5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14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WMAPE ILUSTRATIVO</a:t>
            </a:r>
          </a:p>
        </p:txBody>
      </p:sp>
      <p:sp>
        <p:nvSpPr>
          <p:cNvPr id="14" name="model-criteria">
            <a:extLst xmlns:a="http://schemas.openxmlformats.org/drawingml/2006/main">
              <a:ext uri="{FF2B5EF4-FFF2-40B4-BE49-F238E27FC236}">
                <a16:creationId xmlns:a16="http://schemas.microsoft.com/office/drawing/2014/main" id="{72B7002A-BC32-4D5E-A81D-229500BC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56057"/>
                </a:solidFill>
              </a:defRPr>
            </a:pPr>
            <a:r>
              <a:rPr sz="1425" b="0" i="0">
                <a:solidFill>
                  <a:srgbClr val="656057"/>
                </a:solidFill>
              </a:rPr>
              <a:t>Acurácia</a:t>
            </a:r>
          </a:p>
          <a:p xmlns:a="http://schemas.openxmlformats.org/drawingml/2006/main">
            <a:pPr algn="l">
              <a:defRPr sz="1425" b="0" i="0">
                <a:solidFill>
                  <a:srgbClr val="656057"/>
                </a:solidFill>
              </a:defRPr>
            </a:pPr>
            <a:r>
              <a:rPr sz="1425" b="0" i="0">
                <a:solidFill>
                  <a:srgbClr val="656057"/>
                </a:solidFill>
              </a:rPr>
              <a:t>Estabilidade</a:t>
            </a:r>
          </a:p>
          <a:p xmlns:a="http://schemas.openxmlformats.org/drawingml/2006/main">
            <a:pPr algn="l">
              <a:defRPr sz="1425" b="0" i="0">
                <a:solidFill>
                  <a:srgbClr val="656057"/>
                </a:solidFill>
              </a:defRPr>
            </a:pPr>
            <a:r>
              <a:rPr sz="1425" b="0" i="0">
                <a:solidFill>
                  <a:srgbClr val="656057"/>
                </a:solidFill>
              </a:rPr>
              <a:t>Bias</a:t>
            </a:r>
          </a:p>
          <a:p xmlns:a="http://schemas.openxmlformats.org/drawingml/2006/main">
            <a:pPr algn="l">
              <a:defRPr sz="1425" b="0" i="0">
                <a:solidFill>
                  <a:srgbClr val="656057"/>
                </a:solidFill>
              </a:defRPr>
            </a:pPr>
            <a:r>
              <a:rPr sz="1425" b="0" i="0">
                <a:solidFill>
                  <a:srgbClr val="656057"/>
                </a:solidFill>
              </a:rPr>
              <a:t>Custo operacional</a:t>
            </a:r>
          </a:p>
        </p:txBody>
      </p:sp>
    </p:spTree>
    <p:extLst>
      <p:ext uri="{BB962C8B-B14F-4D97-AF65-F5344CB8AC3E}">
        <p14:creationId xmlns:p14="http://schemas.microsoft.com/office/powerpoint/2010/main" val="961688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F1EB55F3-5918-41B1-9FE3-1D73DF94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2B39037D-E0E7-4546-9B1E-F2A4672B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0F20849A-FD2C-4916-8F9D-7264E67D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07E9E14F-2774-4B9C-B87D-8AF2BF6F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LAYOUT 10 · BACKTESTING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449F2F6-AA64-4713-989A-359A537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18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4452CF46-865E-435A-80A1-E9DB880D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92418C1-3A76-424B-8D93-376C0589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8F81398-9E14-4362-BFF6-B4CC262E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4AC6A3C7-B602-4C51-A63B-2DDE0CD4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BACKTESTING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5D47EA8C-9CDB-44BA-A0D0-A19D1755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A estabilidade temporal vale mais que uma vitória pontual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85800" y="2619375"/>
          <a:ext xmlns:a="http://schemas.openxmlformats.org/drawingml/2006/main" cx="80962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5d8b287fa24be0"/>
          </a:graphicData>
        </a:graphic>
      </p:graphicFrame>
      <p:sp>
        <p:nvSpPr>
          <p:cNvPr id="12" name="metric-rule-980">
            <a:extLst xmlns:a="http://schemas.openxmlformats.org/drawingml/2006/main">
              <a:ext uri="{FF2B5EF4-FFF2-40B4-BE49-F238E27FC236}">
                <a16:creationId xmlns:a16="http://schemas.microsoft.com/office/drawing/2014/main" id="{D9CC69B5-FF5F-47DC-BEC1-81601F37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13" name="metric-value-980">
            <a:extLst xmlns:a="http://schemas.openxmlformats.org/drawingml/2006/main">
              <a:ext uri="{FF2B5EF4-FFF2-40B4-BE49-F238E27FC236}">
                <a16:creationId xmlns:a16="http://schemas.microsoft.com/office/drawing/2014/main" id="{9F87A9C1-80EE-4E69-852F-2B94F53B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527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71612"/>
                </a:solidFill>
              </a:defRPr>
            </a:pPr>
            <a:r>
              <a:rPr sz="2550" b="0" i="0">
                <a:solidFill>
                  <a:srgbClr val="171612"/>
                </a:solidFill>
              </a:rPr>
              <a:t>8</a:t>
            </a:r>
          </a:p>
        </p:txBody>
      </p:sp>
      <p:sp>
        <p:nvSpPr>
          <p:cNvPr id="14" name="metric-caption-980">
            <a:extLst xmlns:a="http://schemas.openxmlformats.org/drawingml/2006/main">
              <a:ext uri="{FF2B5EF4-FFF2-40B4-BE49-F238E27FC236}">
                <a16:creationId xmlns:a16="http://schemas.microsoft.com/office/drawing/2014/main" id="{75BE9693-C0AC-431E-B878-27517DCC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JANELAS</a:t>
            </a:r>
          </a:p>
        </p:txBody>
      </p:sp>
      <p:sp>
        <p:nvSpPr>
          <p:cNvPr id="15" name="metric-rule-980">
            <a:extLst xmlns:a="http://schemas.openxmlformats.org/drawingml/2006/main">
              <a:ext uri="{FF2B5EF4-FFF2-40B4-BE49-F238E27FC236}">
                <a16:creationId xmlns:a16="http://schemas.microsoft.com/office/drawing/2014/main" id="{E181B67B-B4E9-4F17-829E-861DE95D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71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16" name="metric-value-980">
            <a:extLst xmlns:a="http://schemas.openxmlformats.org/drawingml/2006/main">
              <a:ext uri="{FF2B5EF4-FFF2-40B4-BE49-F238E27FC236}">
                <a16:creationId xmlns:a16="http://schemas.microsoft.com/office/drawing/2014/main" id="{A2039CD2-BFC3-48F6-9F20-B4AE6FEB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434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A43A2B"/>
                </a:solidFill>
              </a:defRPr>
            </a:pPr>
            <a:r>
              <a:rPr sz="2550" b="0" i="0">
                <a:solidFill>
                  <a:srgbClr val="A43A2B"/>
                </a:solidFill>
              </a:rPr>
              <a:t>7d</a:t>
            </a:r>
          </a:p>
        </p:txBody>
      </p:sp>
      <p:sp>
        <p:nvSpPr>
          <p:cNvPr id="17" name="metric-caption-980">
            <a:extLst xmlns:a="http://schemas.openxmlformats.org/drawingml/2006/main">
              <a:ext uri="{FF2B5EF4-FFF2-40B4-BE49-F238E27FC236}">
                <a16:creationId xmlns:a16="http://schemas.microsoft.com/office/drawing/2014/main" id="{865ACE52-CB93-4A1A-BC96-8386AC39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149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HORIZONTE</a:t>
            </a:r>
          </a:p>
        </p:txBody>
      </p:sp>
    </p:spTree>
    <p:extLst>
      <p:ext uri="{BB962C8B-B14F-4D97-AF65-F5344CB8AC3E}">
        <p14:creationId xmlns:p14="http://schemas.microsoft.com/office/powerpoint/2010/main" val="4368842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30546AB3-1E3F-4860-9CA5-5B5C8003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E9D88B9C-827D-4736-9E73-1CC6F392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18CD8036-786F-450B-8402-269C180B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746F8F37-1703-440C-9498-5044848D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LAYOUT 11 · RESULTADO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78A937-189B-4882-9363-38F7F924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19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4FE81D06-4346-4FD2-BC32-8C1D2332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6F0218E-5E97-4602-A177-CB03478E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9C30CA2-ACBC-4889-895D-1E92C54A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4D37C74C-E8ED-4839-BE08-AE64D832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RESULTADO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177DD6F1-09BB-47AA-81C6-E7541CA0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A evidência técnica precisa terminar em consequência prática</a:t>
            </a:r>
          </a:p>
        </p:txBody>
      </p:sp>
      <p:sp>
        <p:nvSpPr>
          <p:cNvPr id="11" name="metric-rule-72">
            <a:extLst xmlns:a="http://schemas.openxmlformats.org/drawingml/2006/main">
              <a:ext uri="{FF2B5EF4-FFF2-40B4-BE49-F238E27FC236}">
                <a16:creationId xmlns:a16="http://schemas.microsoft.com/office/drawing/2014/main" id="{AFE038B8-6AFB-41BE-8649-DE796F87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12" name="metric-value-72">
            <a:extLst xmlns:a="http://schemas.openxmlformats.org/drawingml/2006/main">
              <a:ext uri="{FF2B5EF4-FFF2-40B4-BE49-F238E27FC236}">
                <a16:creationId xmlns:a16="http://schemas.microsoft.com/office/drawing/2014/main" id="{8F098219-6108-4E18-B49C-E3C93D67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A43A2B"/>
                </a:solidFill>
              </a:defRPr>
            </a:pPr>
            <a:r>
              <a:rPr sz="2550" b="0" i="0">
                <a:solidFill>
                  <a:srgbClr val="A43A2B"/>
                </a:solidFill>
              </a:rPr>
              <a:t>−31%</a:t>
            </a:r>
          </a:p>
        </p:txBody>
      </p:sp>
      <p:sp>
        <p:nvSpPr>
          <p:cNvPr id="13" name="metric-caption-72">
            <a:extLst xmlns:a="http://schemas.openxmlformats.org/drawingml/2006/main">
              <a:ext uri="{FF2B5EF4-FFF2-40B4-BE49-F238E27FC236}">
                <a16:creationId xmlns:a16="http://schemas.microsoft.com/office/drawing/2014/main" id="{07896777-8B81-4B45-A2DF-CD741B1B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ERRO VS. BASELINE</a:t>
            </a:r>
          </a:p>
        </p:txBody>
      </p:sp>
      <p:sp>
        <p:nvSpPr>
          <p:cNvPr id="14" name="metric-rule-365">
            <a:extLst xmlns:a="http://schemas.openxmlformats.org/drawingml/2006/main">
              <a:ext uri="{FF2B5EF4-FFF2-40B4-BE49-F238E27FC236}">
                <a16:creationId xmlns:a16="http://schemas.microsoft.com/office/drawing/2014/main" id="{EC2B584A-3B62-403B-A210-88572BE0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67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15" name="metric-value-365">
            <a:extLst xmlns:a="http://schemas.openxmlformats.org/drawingml/2006/main">
              <a:ext uri="{FF2B5EF4-FFF2-40B4-BE49-F238E27FC236}">
                <a16:creationId xmlns:a16="http://schemas.microsoft.com/office/drawing/2014/main" id="{738D9EAC-566A-4380-BB89-2AB92330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384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D3A329"/>
                </a:solidFill>
              </a:defRPr>
            </a:pPr>
            <a:r>
              <a:rPr sz="2550" b="0" i="0">
                <a:solidFill>
                  <a:srgbClr val="D3A329"/>
                </a:solidFill>
              </a:rPr>
              <a:t>+4d</a:t>
            </a:r>
          </a:p>
        </p:txBody>
      </p:sp>
      <p:sp>
        <p:nvSpPr>
          <p:cNvPr id="16" name="metric-caption-365">
            <a:extLst xmlns:a="http://schemas.openxmlformats.org/drawingml/2006/main">
              <a:ext uri="{FF2B5EF4-FFF2-40B4-BE49-F238E27FC236}">
                <a16:creationId xmlns:a16="http://schemas.microsoft.com/office/drawing/2014/main" id="{D16BE8CE-4784-4538-B938-FBBB94CF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099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ANTECIPAÇÃO</a:t>
            </a:r>
          </a:p>
        </p:txBody>
      </p:sp>
      <p:sp>
        <p:nvSpPr>
          <p:cNvPr id="17" name="metric-rule-658">
            <a:extLst xmlns:a="http://schemas.openxmlformats.org/drawingml/2006/main">
              <a:ext uri="{FF2B5EF4-FFF2-40B4-BE49-F238E27FC236}">
                <a16:creationId xmlns:a16="http://schemas.microsoft.com/office/drawing/2014/main" id="{91B641E6-D967-4ECC-8D61-97451558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18" name="metric-value-658">
            <a:extLst xmlns:a="http://schemas.openxmlformats.org/drawingml/2006/main">
              <a:ext uri="{FF2B5EF4-FFF2-40B4-BE49-F238E27FC236}">
                <a16:creationId xmlns:a16="http://schemas.microsoft.com/office/drawing/2014/main" id="{9DCA8C8C-4913-4B74-B6E4-7A03AD43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356A54"/>
                </a:solidFill>
              </a:defRPr>
            </a:pPr>
            <a:r>
              <a:rPr sz="2550" b="0" i="0">
                <a:solidFill>
                  <a:srgbClr val="356A54"/>
                </a:solidFill>
              </a:rPr>
              <a:t>92%</a:t>
            </a:r>
          </a:p>
        </p:txBody>
      </p:sp>
      <p:sp>
        <p:nvSpPr>
          <p:cNvPr id="19" name="metric-caption-658">
            <a:extLst xmlns:a="http://schemas.openxmlformats.org/drawingml/2006/main">
              <a:ext uri="{FF2B5EF4-FFF2-40B4-BE49-F238E27FC236}">
                <a16:creationId xmlns:a16="http://schemas.microsoft.com/office/drawing/2014/main" id="{2482A290-936D-4545-BF40-C5D0AB56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COBERTURA</a:t>
            </a:r>
          </a:p>
        </p:txBody>
      </p:sp>
      <p:sp>
        <p:nvSpPr>
          <p:cNvPr id="20" name="metric-rule-951">
            <a:extLst xmlns:a="http://schemas.openxmlformats.org/drawingml/2006/main">
              <a:ext uri="{FF2B5EF4-FFF2-40B4-BE49-F238E27FC236}">
                <a16:creationId xmlns:a16="http://schemas.microsoft.com/office/drawing/2014/main" id="{0119B1ED-8A9E-481D-AA34-51BA452F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6670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21" name="metric-value-951">
            <a:extLst xmlns:a="http://schemas.openxmlformats.org/drawingml/2006/main">
              <a:ext uri="{FF2B5EF4-FFF2-40B4-BE49-F238E27FC236}">
                <a16:creationId xmlns:a16="http://schemas.microsoft.com/office/drawing/2014/main" id="{E79F84B5-7A54-47AC-AF47-F2757664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384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71612"/>
                </a:solidFill>
              </a:defRPr>
            </a:pPr>
            <a:r>
              <a:rPr sz="2550" b="0" i="0">
                <a:solidFill>
                  <a:srgbClr val="171612"/>
                </a:solidFill>
              </a:rPr>
              <a:t>ALTA</a:t>
            </a:r>
          </a:p>
        </p:txBody>
      </p:sp>
      <p:sp>
        <p:nvSpPr>
          <p:cNvPr id="22" name="metric-caption-951">
            <a:extLst xmlns:a="http://schemas.openxmlformats.org/drawingml/2006/main">
              <a:ext uri="{FF2B5EF4-FFF2-40B4-BE49-F238E27FC236}">
                <a16:creationId xmlns:a16="http://schemas.microsoft.com/office/drawing/2014/main" id="{0DE77C40-6AE3-4855-BC4E-72F8CB98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4099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CONFIANÇA</a:t>
            </a:r>
          </a:p>
        </p:txBody>
      </p:sp>
      <p:sp>
        <p:nvSpPr>
          <p:cNvPr id="23" name="result-tech">
            <a:extLst xmlns:a="http://schemas.openxmlformats.org/drawingml/2006/main">
              <a:ext uri="{FF2B5EF4-FFF2-40B4-BE49-F238E27FC236}">
                <a16:creationId xmlns:a16="http://schemas.microsoft.com/office/drawing/2014/main" id="{12025828-A8B1-40EA-A2E1-511FA144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TÉCNICO</a:t>
            </a:r>
          </a:p>
        </p:txBody>
      </p:sp>
      <p:sp>
        <p:nvSpPr>
          <p:cNvPr id="24" name="result-tech-copy">
            <a:extLst xmlns:a="http://schemas.openxmlformats.org/drawingml/2006/main">
              <a:ext uri="{FF2B5EF4-FFF2-40B4-BE49-F238E27FC236}">
                <a16:creationId xmlns:a16="http://schemas.microsoft.com/office/drawing/2014/main" id="{E7F6154A-582A-423B-BEEF-666BC3B8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6057"/>
                </a:solidFill>
              </a:defRPr>
            </a:pPr>
            <a:r>
              <a:rPr sz="1350" b="0" i="0">
                <a:solidFill>
                  <a:srgbClr val="656057"/>
                </a:solidFill>
              </a:rPr>
              <a:t>erro, bias e estabilidade</a:t>
            </a:r>
          </a:p>
        </p:txBody>
      </p:sp>
      <p:sp>
        <p:nvSpPr>
          <p:cNvPr id="25" name="result-op">
            <a:extLst xmlns:a="http://schemas.openxmlformats.org/drawingml/2006/main">
              <a:ext uri="{FF2B5EF4-FFF2-40B4-BE49-F238E27FC236}">
                <a16:creationId xmlns:a16="http://schemas.microsoft.com/office/drawing/2014/main" id="{EFA12BF3-C651-478E-8035-BBEAA911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3A329"/>
                </a:solidFill>
              </a:defRPr>
            </a:pPr>
            <a:r>
              <a:rPr sz="900" b="1" i="0">
                <a:solidFill>
                  <a:srgbClr val="D3A329"/>
                </a:solidFill>
              </a:rPr>
              <a:t>OPERACIONAL</a:t>
            </a:r>
          </a:p>
        </p:txBody>
      </p:sp>
      <p:sp>
        <p:nvSpPr>
          <p:cNvPr id="26" name="result-op-copy">
            <a:extLst xmlns:a="http://schemas.openxmlformats.org/drawingml/2006/main">
              <a:ext uri="{FF2B5EF4-FFF2-40B4-BE49-F238E27FC236}">
                <a16:creationId xmlns:a16="http://schemas.microsoft.com/office/drawing/2014/main" id="{3B87F184-46ED-4D45-A772-9BCAE8FA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62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6057"/>
                </a:solidFill>
              </a:defRPr>
            </a:pPr>
            <a:r>
              <a:rPr sz="1350" b="0" i="0">
                <a:solidFill>
                  <a:srgbClr val="656057"/>
                </a:solidFill>
              </a:rPr>
              <a:t>ritual, SLA e consumo</a:t>
            </a:r>
          </a:p>
        </p:txBody>
      </p:sp>
      <p:sp>
        <p:nvSpPr>
          <p:cNvPr id="27" name="result-biz">
            <a:extLst xmlns:a="http://schemas.openxmlformats.org/drawingml/2006/main">
              <a:ext uri="{FF2B5EF4-FFF2-40B4-BE49-F238E27FC236}">
                <a16:creationId xmlns:a16="http://schemas.microsoft.com/office/drawing/2014/main" id="{879122CF-6E21-4B5D-9394-A5B96FA2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56A54"/>
                </a:solidFill>
              </a:defRPr>
            </a:pPr>
            <a:r>
              <a:rPr sz="900" b="1" i="0">
                <a:solidFill>
                  <a:srgbClr val="356A54"/>
                </a:solidFill>
              </a:rPr>
              <a:t>NEGÓCIO</a:t>
            </a:r>
          </a:p>
        </p:txBody>
      </p:sp>
      <p:sp>
        <p:nvSpPr>
          <p:cNvPr id="28" name="result-biz-copy">
            <a:extLst xmlns:a="http://schemas.openxmlformats.org/drawingml/2006/main">
              <a:ext uri="{FF2B5EF4-FFF2-40B4-BE49-F238E27FC236}">
                <a16:creationId xmlns:a16="http://schemas.microsoft.com/office/drawing/2014/main" id="{46299F4F-D469-4351-9C43-8E99D73E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62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6057"/>
                </a:solidFill>
              </a:defRPr>
            </a:pPr>
            <a:r>
              <a:rPr sz="1350" b="0" i="0">
                <a:solidFill>
                  <a:srgbClr val="656057"/>
                </a:solidFill>
              </a:rPr>
              <a:t>decisão e impacto</a:t>
            </a:r>
          </a:p>
        </p:txBody>
      </p:sp>
    </p:spTree>
    <p:extLst>
      <p:ext uri="{BB962C8B-B14F-4D97-AF65-F5344CB8AC3E}">
        <p14:creationId xmlns:p14="http://schemas.microsoft.com/office/powerpoint/2010/main" val="16954488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E19FD0EB-98DB-4308-8C93-BE2C3280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792468CD-83B0-4482-A50E-E6C982F7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11459828-0F33-4ADE-A81F-A267EC93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D4919297-BCEC-493B-830E-CBB7D51C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LAYOUT 12 · EDA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7F4978C-584F-4389-9994-B30530A7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20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BB37B5DC-552F-4244-8754-75E77605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DB916D4-88CA-4158-894F-0D2050D1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24CBE17-92AE-44B9-808E-D2BF0510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0B4037A1-F999-475A-80B8-491FEC96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PERFIL DA DEMANDA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9141128C-3FF4-4F2F-B707-F5B50DF6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Frequência e variabilidade mudam a estratégia de previsão</a:t>
            </a:r>
          </a:p>
        </p:txBody>
      </p:sp>
      <p:sp>
        <p:nvSpPr>
          <p:cNvPr id="11" name="eda-v">
            <a:extLst xmlns:a="http://schemas.openxmlformats.org/drawingml/2006/main">
              <a:ext uri="{FF2B5EF4-FFF2-40B4-BE49-F238E27FC236}">
                <a16:creationId xmlns:a16="http://schemas.microsoft.com/office/drawing/2014/main" id="{8335B7C3-F75C-4C26-AE8A-58E58FD6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612"/>
            </a:solidFill>
            <a:prstDash val="solid"/>
          </a:ln>
        </p:spPr>
      </p:sp>
      <p:sp>
        <p:nvSpPr>
          <p:cNvPr id="12" name="eda-h">
            <a:extLst xmlns:a="http://schemas.openxmlformats.org/drawingml/2006/main">
              <a:ext uri="{FF2B5EF4-FFF2-40B4-BE49-F238E27FC236}">
                <a16:creationId xmlns:a16="http://schemas.microsoft.com/office/drawing/2014/main" id="{C08C6912-5619-496C-95B7-3F8AEECD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612"/>
            </a:solidFill>
            <a:prstDash val="solid"/>
          </a:ln>
        </p:spPr>
      </p:sp>
      <p:sp>
        <p:nvSpPr>
          <p:cNvPr id="13" name="label-CV² · variabilidade-420-250">
            <a:extLst xmlns:a="http://schemas.openxmlformats.org/drawingml/2006/main">
              <a:ext uri="{FF2B5EF4-FFF2-40B4-BE49-F238E27FC236}">
                <a16:creationId xmlns:a16="http://schemas.microsoft.com/office/drawing/2014/main" id="{8EE84C53-12BD-4A30-BAE4-1692E38F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CV² · VARIABILIDADE</a:t>
            </a:r>
          </a:p>
        </p:txBody>
      </p:sp>
      <p:sp>
        <p:nvSpPr>
          <p:cNvPr id="14" name="label-ADI · intervalo-780-595">
            <a:extLst xmlns:a="http://schemas.openxmlformats.org/drawingml/2006/main">
              <a:ext uri="{FF2B5EF4-FFF2-40B4-BE49-F238E27FC236}">
                <a16:creationId xmlns:a16="http://schemas.microsoft.com/office/drawing/2014/main" id="{FB536EEF-7850-42F3-8F70-C5DBC69F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673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ADI · INTERVALO</a:t>
            </a:r>
          </a:p>
        </p:txBody>
      </p:sp>
      <p:sp>
        <p:nvSpPr>
          <p:cNvPr id="15" name="eda-regular">
            <a:extLst xmlns:a="http://schemas.openxmlformats.org/drawingml/2006/main">
              <a:ext uri="{FF2B5EF4-FFF2-40B4-BE49-F238E27FC236}">
                <a16:creationId xmlns:a16="http://schemas.microsoft.com/office/drawing/2014/main" id="{D43E5AEE-B041-476D-AB12-7623C65A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291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56A54"/>
                </a:solidFill>
              </a:defRPr>
            </a:pPr>
            <a:r>
              <a:rPr sz="975" b="1" i="0">
                <a:solidFill>
                  <a:srgbClr val="356A54"/>
                </a:solidFill>
              </a:rPr>
              <a:t>REGULAR</a:t>
            </a:r>
          </a:p>
        </p:txBody>
      </p:sp>
      <p:sp>
        <p:nvSpPr>
          <p:cNvPr id="16" name="eda-erratic">
            <a:extLst xmlns:a="http://schemas.openxmlformats.org/drawingml/2006/main">
              <a:ext uri="{FF2B5EF4-FFF2-40B4-BE49-F238E27FC236}">
                <a16:creationId xmlns:a16="http://schemas.microsoft.com/office/drawing/2014/main" id="{2DEF9C0C-C8DE-42E3-86A9-E32C6010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43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43A2B"/>
                </a:solidFill>
              </a:defRPr>
            </a:pPr>
            <a:r>
              <a:rPr sz="975" b="1" i="0">
                <a:solidFill>
                  <a:srgbClr val="A43A2B"/>
                </a:solidFill>
              </a:rPr>
              <a:t>ERRÁTICA</a:t>
            </a:r>
          </a:p>
        </p:txBody>
      </p:sp>
      <p:sp>
        <p:nvSpPr>
          <p:cNvPr id="17" name="eda-inter">
            <a:extLst xmlns:a="http://schemas.openxmlformats.org/drawingml/2006/main">
              <a:ext uri="{FF2B5EF4-FFF2-40B4-BE49-F238E27FC236}">
                <a16:creationId xmlns:a16="http://schemas.microsoft.com/office/drawing/2014/main" id="{79391D7B-51F0-42A9-A1A3-EEE9DD43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291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3A329"/>
                </a:solidFill>
              </a:defRPr>
            </a:pPr>
            <a:r>
              <a:rPr sz="975" b="1" i="0">
                <a:solidFill>
                  <a:srgbClr val="D3A329"/>
                </a:solidFill>
              </a:rPr>
              <a:t>INTERMITENTE</a:t>
            </a:r>
          </a:p>
        </p:txBody>
      </p:sp>
      <p:sp>
        <p:nvSpPr>
          <p:cNvPr id="18" name="eda-lumpy">
            <a:extLst xmlns:a="http://schemas.openxmlformats.org/drawingml/2006/main">
              <a:ext uri="{FF2B5EF4-FFF2-40B4-BE49-F238E27FC236}">
                <a16:creationId xmlns:a16="http://schemas.microsoft.com/office/drawing/2014/main" id="{50EC383B-2746-41B4-9DA1-3AA6D0D1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43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1612"/>
                </a:solidFill>
              </a:defRPr>
            </a:pPr>
            <a:r>
              <a:rPr sz="975" b="1" i="0">
                <a:solidFill>
                  <a:srgbClr val="171612"/>
                </a:solidFill>
              </a:rPr>
              <a:t>IRREGULAR</a:t>
            </a:r>
          </a:p>
        </p:txBody>
      </p:sp>
      <p:sp>
        <p:nvSpPr>
          <p:cNvPr id="19" name="eda-point-0">
            <a:extLst xmlns:a="http://schemas.openxmlformats.org/drawingml/2006/main">
              <a:ext uri="{FF2B5EF4-FFF2-40B4-BE49-F238E27FC236}">
                <a16:creationId xmlns:a16="http://schemas.microsoft.com/office/drawing/2014/main" id="{0E205067-B1A2-4360-94E6-72AAA48B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da-point-1">
            <a:extLst xmlns:a="http://schemas.openxmlformats.org/drawingml/2006/main">
              <a:ext uri="{FF2B5EF4-FFF2-40B4-BE49-F238E27FC236}">
                <a16:creationId xmlns:a16="http://schemas.microsoft.com/office/drawing/2014/main" id="{24FE46D2-4F90-4204-8752-F8DF2119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05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da-point-2">
            <a:extLst xmlns:a="http://schemas.openxmlformats.org/drawingml/2006/main">
              <a:ext uri="{FF2B5EF4-FFF2-40B4-BE49-F238E27FC236}">
                <a16:creationId xmlns:a16="http://schemas.microsoft.com/office/drawing/2014/main" id="{03E17012-1700-48C8-BF16-AC87B978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eda-point-3">
            <a:extLst xmlns:a="http://schemas.openxmlformats.org/drawingml/2006/main">
              <a:ext uri="{FF2B5EF4-FFF2-40B4-BE49-F238E27FC236}">
                <a16:creationId xmlns:a16="http://schemas.microsoft.com/office/drawing/2014/main" id="{03FA56E5-034C-49C7-A643-57396728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0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da-point-4">
            <a:extLst xmlns:a="http://schemas.openxmlformats.org/drawingml/2006/main">
              <a:ext uri="{FF2B5EF4-FFF2-40B4-BE49-F238E27FC236}">
                <a16:creationId xmlns:a16="http://schemas.microsoft.com/office/drawing/2014/main" id="{707CCA22-18B0-4E4A-9859-365DDDA0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10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eda-point-5">
            <a:extLst xmlns:a="http://schemas.openxmlformats.org/drawingml/2006/main">
              <a:ext uri="{FF2B5EF4-FFF2-40B4-BE49-F238E27FC236}">
                <a16:creationId xmlns:a16="http://schemas.microsoft.com/office/drawing/2014/main" id="{058B089F-E95E-478B-8F2D-9A7A2029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da-point-6">
            <a:extLst xmlns:a="http://schemas.openxmlformats.org/drawingml/2006/main">
              <a:ext uri="{FF2B5EF4-FFF2-40B4-BE49-F238E27FC236}">
                <a16:creationId xmlns:a16="http://schemas.microsoft.com/office/drawing/2014/main" id="{20BA3CC0-51FA-4F60-B480-7CB6A1DC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95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eda-point-7">
            <a:extLst xmlns:a="http://schemas.openxmlformats.org/drawingml/2006/main">
              <a:ext uri="{FF2B5EF4-FFF2-40B4-BE49-F238E27FC236}">
                <a16:creationId xmlns:a16="http://schemas.microsoft.com/office/drawing/2014/main" id="{3130F3D8-F98E-4915-B91B-28FAA6DC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da-legend">
            <a:extLst xmlns:a="http://schemas.openxmlformats.org/drawingml/2006/main">
              <a:ext uri="{FF2B5EF4-FFF2-40B4-BE49-F238E27FC236}">
                <a16:creationId xmlns:a16="http://schemas.microsoft.com/office/drawing/2014/main" id="{E5D6E143-3E21-41F6-B31E-09E87979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56057"/>
                </a:solidFill>
              </a:defRPr>
            </a:pPr>
            <a:r>
              <a:rPr sz="1425" b="0" i="0">
                <a:solidFill>
                  <a:srgbClr val="656057"/>
                </a:solidFill>
              </a:rPr>
              <a:t>Cada ponto = um SKU</a:t>
            </a:r>
          </a:p>
          <a:p xmlns:a="http://schemas.openxmlformats.org/drawingml/2006/main">
            <a:pPr algn="l">
              <a:defRPr sz="1425" b="0" i="0">
                <a:solidFill>
                  <a:srgbClr val="656057"/>
                </a:solidFill>
              </a:defRPr>
            </a:pPr>
            <a:r>
              <a:rPr sz="1425" b="0" i="0">
                <a:solidFill>
                  <a:srgbClr val="656057"/>
                </a:solidFill>
              </a:rPr>
              <a:t>Direita = venda mais espaçada</a:t>
            </a:r>
          </a:p>
          <a:p xmlns:a="http://schemas.openxmlformats.org/drawingml/2006/main">
            <a:pPr algn="l">
              <a:defRPr sz="1425" b="0" i="0">
                <a:solidFill>
                  <a:srgbClr val="656057"/>
                </a:solidFill>
              </a:defRPr>
            </a:pPr>
            <a:r>
              <a:rPr sz="1425" b="0" i="0">
                <a:solidFill>
                  <a:srgbClr val="656057"/>
                </a:solidFill>
              </a:rPr>
              <a:t>Acima = volume mais instável</a:t>
            </a:r>
          </a:p>
        </p:txBody>
      </p:sp>
      <p:sp>
        <p:nvSpPr>
          <p:cNvPr id="28" name="eda-source">
            <a:extLst xmlns:a="http://schemas.openxmlformats.org/drawingml/2006/main">
              <a:ext uri="{FF2B5EF4-FFF2-40B4-BE49-F238E27FC236}">
                <a16:creationId xmlns:a16="http://schemas.microsoft.com/office/drawing/2014/main" id="{AF1F4FA9-5C34-46D6-B6AD-9F475C4F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ADI 1,32 · CV² 0,49</a:t>
            </a:r>
          </a:p>
        </p:txBody>
      </p:sp>
    </p:spTree>
    <p:extLst>
      <p:ext uri="{BB962C8B-B14F-4D97-AF65-F5344CB8AC3E}">
        <p14:creationId xmlns:p14="http://schemas.microsoft.com/office/powerpoint/2010/main" val="9285067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52883992-325F-4E48-8AF4-9C8F4126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277EE4CD-7668-40C1-A9E9-77167691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F8640865-1F87-4C39-B7C8-8AE50F1A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8B559538-F13E-4697-95DA-12064C05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LAYOUT 13 · EXPLICABILIDADE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A2CBA24-7362-4C69-A3AC-1B1A4D56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21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F3848369-9AF4-453C-B96E-75F64C84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C3DF673-58A2-4C74-9BAB-3DE0A50F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1ED5311-E3D4-4DF7-8562-2E84308B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7147AB30-9747-4C3D-9A39-18AF192A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EXPLICABILIDADE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8BE8E86D-E6D3-4191-B9EB-06506378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O forecast ganha confiança quando seus drivers são observáveis</a:t>
            </a:r>
          </a:p>
        </p:txBody>
      </p:sp>
      <p:sp>
        <p:nvSpPr>
          <p:cNvPr id="11" name="shap-num-0">
            <a:extLst xmlns:a="http://schemas.openxmlformats.org/drawingml/2006/main">
              <a:ext uri="{FF2B5EF4-FFF2-40B4-BE49-F238E27FC236}">
                <a16:creationId xmlns:a16="http://schemas.microsoft.com/office/drawing/2014/main" id="{85F92680-34E3-4422-B56B-1D282D1B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01</a:t>
            </a:r>
          </a:p>
        </p:txBody>
      </p:sp>
      <p:sp>
        <p:nvSpPr>
          <p:cNvPr id="12" name="shap-name-0">
            <a:extLst xmlns:a="http://schemas.openxmlformats.org/drawingml/2006/main">
              <a:ext uri="{FF2B5EF4-FFF2-40B4-BE49-F238E27FC236}">
                <a16:creationId xmlns:a16="http://schemas.microsoft.com/office/drawing/2014/main" id="{C9DC9A94-12C6-427E-AA93-52FC487A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193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1612"/>
                </a:solidFill>
              </a:defRPr>
            </a:pPr>
            <a:r>
              <a:rPr sz="1425" b="0" i="0">
                <a:solidFill>
                  <a:srgbClr val="171612"/>
                </a:solidFill>
              </a:rPr>
              <a:t>Venda D−1</a:t>
            </a:r>
          </a:p>
        </p:txBody>
      </p:sp>
      <p:sp>
        <p:nvSpPr>
          <p:cNvPr id="13" name="shap-bg-0">
            <a:extLst xmlns:a="http://schemas.openxmlformats.org/drawingml/2006/main">
              <a:ext uri="{FF2B5EF4-FFF2-40B4-BE49-F238E27FC236}">
                <a16:creationId xmlns:a16="http://schemas.microsoft.com/office/drawing/2014/main" id="{E5088113-D8DC-4ABF-B1F5-A6345B69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-bar-0">
            <a:extLst xmlns:a="http://schemas.openxmlformats.org/drawingml/2006/main">
              <a:ext uri="{FF2B5EF4-FFF2-40B4-BE49-F238E27FC236}">
                <a16:creationId xmlns:a16="http://schemas.microsoft.com/office/drawing/2014/main" id="{32BF60EE-F33E-41C1-B7C6-375D2937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34366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hap-value-0">
            <a:extLst xmlns:a="http://schemas.openxmlformats.org/drawingml/2006/main">
              <a:ext uri="{FF2B5EF4-FFF2-40B4-BE49-F238E27FC236}">
                <a16:creationId xmlns:a16="http://schemas.microsoft.com/office/drawing/2014/main" id="{A8E2CAB9-1778-4823-B2A7-B39E1A1F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2890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71612"/>
                </a:solidFill>
              </a:defRPr>
            </a:pPr>
            <a:r>
              <a:rPr sz="900" b="1" i="0">
                <a:solidFill>
                  <a:srgbClr val="171612"/>
                </a:solidFill>
              </a:rPr>
              <a:t>0.88</a:t>
            </a:r>
          </a:p>
        </p:txBody>
      </p:sp>
      <p:sp>
        <p:nvSpPr>
          <p:cNvPr id="16" name="shap-num-1">
            <a:extLst xmlns:a="http://schemas.openxmlformats.org/drawingml/2006/main">
              <a:ext uri="{FF2B5EF4-FFF2-40B4-BE49-F238E27FC236}">
                <a16:creationId xmlns:a16="http://schemas.microsoft.com/office/drawing/2014/main" id="{79B3F23E-5F75-41AD-AE89-5CC651E1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02</a:t>
            </a:r>
          </a:p>
        </p:txBody>
      </p:sp>
      <p:sp>
        <p:nvSpPr>
          <p:cNvPr id="17" name="shap-name-1">
            <a:extLst xmlns:a="http://schemas.openxmlformats.org/drawingml/2006/main">
              <a:ext uri="{FF2B5EF4-FFF2-40B4-BE49-F238E27FC236}">
                <a16:creationId xmlns:a16="http://schemas.microsoft.com/office/drawing/2014/main" id="{236AD308-19B6-4629-88B0-291CF3BF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1612"/>
                </a:solidFill>
              </a:defRPr>
            </a:pPr>
            <a:r>
              <a:rPr sz="1425" b="0" i="0">
                <a:solidFill>
                  <a:srgbClr val="171612"/>
                </a:solidFill>
              </a:rPr>
              <a:t>Média móvel 7d</a:t>
            </a:r>
          </a:p>
        </p:txBody>
      </p:sp>
      <p:sp>
        <p:nvSpPr>
          <p:cNvPr id="18" name="shap-bg-1">
            <a:extLst xmlns:a="http://schemas.openxmlformats.org/drawingml/2006/main">
              <a:ext uri="{FF2B5EF4-FFF2-40B4-BE49-F238E27FC236}">
                <a16:creationId xmlns:a16="http://schemas.microsoft.com/office/drawing/2014/main" id="{E8A78D2E-3C90-4A87-8C92-AEA41CFF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hap-bar-1">
            <a:extLst xmlns:a="http://schemas.openxmlformats.org/drawingml/2006/main">
              <a:ext uri="{FF2B5EF4-FFF2-40B4-BE49-F238E27FC236}">
                <a16:creationId xmlns:a16="http://schemas.microsoft.com/office/drawing/2014/main" id="{B206011A-7DE7-48BF-9B02-0E326082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285083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hap-value-1">
            <a:extLst xmlns:a="http://schemas.openxmlformats.org/drawingml/2006/main">
              <a:ext uri="{FF2B5EF4-FFF2-40B4-BE49-F238E27FC236}">
                <a16:creationId xmlns:a16="http://schemas.microsoft.com/office/drawing/2014/main" id="{204952B8-AE6A-4F5C-9533-CDB3DF3F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9565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71612"/>
                </a:solidFill>
              </a:defRPr>
            </a:pPr>
            <a:r>
              <a:rPr sz="900" b="1" i="0">
                <a:solidFill>
                  <a:srgbClr val="171612"/>
                </a:solidFill>
              </a:rPr>
              <a:t>0.73</a:t>
            </a:r>
          </a:p>
        </p:txBody>
      </p:sp>
      <p:sp>
        <p:nvSpPr>
          <p:cNvPr id="21" name="shap-num-2">
            <a:extLst xmlns:a="http://schemas.openxmlformats.org/drawingml/2006/main">
              <a:ext uri="{FF2B5EF4-FFF2-40B4-BE49-F238E27FC236}">
                <a16:creationId xmlns:a16="http://schemas.microsoft.com/office/drawing/2014/main" id="{AC5E1268-6E78-469D-9505-3B7F889C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03</a:t>
            </a:r>
          </a:p>
        </p:txBody>
      </p:sp>
      <p:sp>
        <p:nvSpPr>
          <p:cNvPr id="22" name="shap-name-2">
            <a:extLst xmlns:a="http://schemas.openxmlformats.org/drawingml/2006/main">
              <a:ext uri="{FF2B5EF4-FFF2-40B4-BE49-F238E27FC236}">
                <a16:creationId xmlns:a16="http://schemas.microsoft.com/office/drawing/2014/main" id="{97E10F60-91C2-4907-A924-8CDE5B4F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52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1612"/>
                </a:solidFill>
              </a:defRPr>
            </a:pPr>
            <a:r>
              <a:rPr sz="1425" b="0" i="0">
                <a:solidFill>
                  <a:srgbClr val="171612"/>
                </a:solidFill>
              </a:rPr>
              <a:t>Dia da semana</a:t>
            </a:r>
          </a:p>
        </p:txBody>
      </p:sp>
      <p:sp>
        <p:nvSpPr>
          <p:cNvPr id="23" name="shap-bg-2">
            <a:extLst xmlns:a="http://schemas.openxmlformats.org/drawingml/2006/main">
              <a:ext uri="{FF2B5EF4-FFF2-40B4-BE49-F238E27FC236}">
                <a16:creationId xmlns:a16="http://schemas.microsoft.com/office/drawing/2014/main" id="{20BBE325-8C69-4DA5-80E5-19E45628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hap-bar-2">
            <a:extLst xmlns:a="http://schemas.openxmlformats.org/drawingml/2006/main">
              <a:ext uri="{FF2B5EF4-FFF2-40B4-BE49-F238E27FC236}">
                <a16:creationId xmlns:a16="http://schemas.microsoft.com/office/drawing/2014/main" id="{6CF27ADE-9FF3-4282-A15C-F1E3D8B4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210883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hap-value-2">
            <a:extLst xmlns:a="http://schemas.openxmlformats.org/drawingml/2006/main">
              <a:ext uri="{FF2B5EF4-FFF2-40B4-BE49-F238E27FC236}">
                <a16:creationId xmlns:a16="http://schemas.microsoft.com/office/drawing/2014/main" id="{B2808C88-2AAA-4CAB-B906-D1139E4E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6240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71612"/>
                </a:solidFill>
              </a:defRPr>
            </a:pPr>
            <a:r>
              <a:rPr sz="900" b="1" i="0">
                <a:solidFill>
                  <a:srgbClr val="171612"/>
                </a:solidFill>
              </a:rPr>
              <a:t>0.54</a:t>
            </a:r>
          </a:p>
        </p:txBody>
      </p:sp>
      <p:sp>
        <p:nvSpPr>
          <p:cNvPr id="26" name="shap-num-3">
            <a:extLst xmlns:a="http://schemas.openxmlformats.org/drawingml/2006/main">
              <a:ext uri="{FF2B5EF4-FFF2-40B4-BE49-F238E27FC236}">
                <a16:creationId xmlns:a16="http://schemas.microsoft.com/office/drawing/2014/main" id="{66DE0E67-AD2E-45C2-83CC-237152DA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04</a:t>
            </a:r>
          </a:p>
        </p:txBody>
      </p:sp>
      <p:sp>
        <p:nvSpPr>
          <p:cNvPr id="27" name="shap-name-3">
            <a:extLst xmlns:a="http://schemas.openxmlformats.org/drawingml/2006/main">
              <a:ext uri="{FF2B5EF4-FFF2-40B4-BE49-F238E27FC236}">
                <a16:creationId xmlns:a16="http://schemas.microsoft.com/office/drawing/2014/main" id="{F0C36D52-6A1E-4E3F-9C72-0CAD5DCA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19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1612"/>
                </a:solidFill>
              </a:defRPr>
            </a:pPr>
            <a:r>
              <a:rPr sz="1425" b="0" i="0">
                <a:solidFill>
                  <a:srgbClr val="171612"/>
                </a:solidFill>
              </a:rPr>
              <a:t>Dado imputado</a:t>
            </a:r>
          </a:p>
        </p:txBody>
      </p:sp>
      <p:sp>
        <p:nvSpPr>
          <p:cNvPr id="28" name="shap-bg-3">
            <a:extLst xmlns:a="http://schemas.openxmlformats.org/drawingml/2006/main">
              <a:ext uri="{FF2B5EF4-FFF2-40B4-BE49-F238E27FC236}">
                <a16:creationId xmlns:a16="http://schemas.microsoft.com/office/drawing/2014/main" id="{7F5E4273-AFE9-4629-8DC1-9662A2A3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67250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hap-bar-3">
            <a:extLst xmlns:a="http://schemas.openxmlformats.org/drawingml/2006/main">
              <a:ext uri="{FF2B5EF4-FFF2-40B4-BE49-F238E27FC236}">
                <a16:creationId xmlns:a16="http://schemas.microsoft.com/office/drawing/2014/main" id="{341763B7-A664-40CD-8D40-47B7A9C1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67250"/>
            <a:ext cx="152304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60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hap-value-3">
            <a:extLst xmlns:a="http://schemas.openxmlformats.org/drawingml/2006/main">
              <a:ext uri="{FF2B5EF4-FFF2-40B4-BE49-F238E27FC236}">
                <a16:creationId xmlns:a16="http://schemas.microsoft.com/office/drawing/2014/main" id="{9A4DF414-6E30-4575-B0AA-1CCE620D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2915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71612"/>
                </a:solidFill>
              </a:defRPr>
            </a:pPr>
            <a:r>
              <a:rPr sz="900" b="1" i="0">
                <a:solidFill>
                  <a:srgbClr val="171612"/>
                </a:solidFill>
              </a:rPr>
              <a:t>0.39</a:t>
            </a:r>
          </a:p>
        </p:txBody>
      </p:sp>
      <p:sp>
        <p:nvSpPr>
          <p:cNvPr id="31" name="shap-callout">
            <a:extLst xmlns:a="http://schemas.openxmlformats.org/drawingml/2006/main">
              <a:ext uri="{FF2B5EF4-FFF2-40B4-BE49-F238E27FC236}">
                <a16:creationId xmlns:a16="http://schemas.microsoft.com/office/drawing/2014/main" id="{2AC3EB51-E520-46A7-9419-D6504C8E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19375"/>
            <a:ext cx="1714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hap-callout-kicker">
            <a:extLst xmlns:a="http://schemas.openxmlformats.org/drawingml/2006/main">
              <a:ext uri="{FF2B5EF4-FFF2-40B4-BE49-F238E27FC236}">
                <a16:creationId xmlns:a16="http://schemas.microsoft.com/office/drawing/2014/main" id="{A84E1539-DE2C-4B23-B598-5998341F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05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D3A329"/>
                </a:solidFill>
              </a:defRPr>
            </a:pPr>
            <a:r>
              <a:rPr sz="825" b="1" i="0">
                <a:solidFill>
                  <a:srgbClr val="D3A329"/>
                </a:solidFill>
              </a:rPr>
              <a:t>LEITURA</a:t>
            </a:r>
          </a:p>
        </p:txBody>
      </p:sp>
      <p:sp>
        <p:nvSpPr>
          <p:cNvPr id="33" name="shap-callout-copy">
            <a:extLst xmlns:a="http://schemas.openxmlformats.org/drawingml/2006/main">
              <a:ext uri="{FF2B5EF4-FFF2-40B4-BE49-F238E27FC236}">
                <a16:creationId xmlns:a16="http://schemas.microsoft.com/office/drawing/2014/main" id="{1EBA1A7D-33BC-40A9-A054-CDF04B35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81375"/>
            <a:ext cx="123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1EBDC"/>
                </a:solidFill>
              </a:defRPr>
            </a:pPr>
            <a:r>
              <a:rPr sz="1500" b="0" i="0">
                <a:solidFill>
                  <a:srgbClr val="F1EBDC"/>
                </a:solidFill>
              </a:rPr>
              <a:t>A previsão sobe quando o histórico recente e o calendário apontam na mesma direção.</a:t>
            </a:r>
          </a:p>
        </p:txBody>
      </p:sp>
      <p:sp>
        <p:nvSpPr>
          <p:cNvPr id="34" name="shap-caveat">
            <a:extLst xmlns:a="http://schemas.openxmlformats.org/drawingml/2006/main">
              <a:ext uri="{FF2B5EF4-FFF2-40B4-BE49-F238E27FC236}">
                <a16:creationId xmlns:a16="http://schemas.microsoft.com/office/drawing/2014/main" id="{1EC76AAB-04E6-4585-A8F3-DE0A5F23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SHAP explica o modelo; não prova causalidade.</a:t>
            </a:r>
          </a:p>
        </p:txBody>
      </p:sp>
    </p:spTree>
    <p:extLst>
      <p:ext uri="{BB962C8B-B14F-4D97-AF65-F5344CB8AC3E}">
        <p14:creationId xmlns:p14="http://schemas.microsoft.com/office/powerpoint/2010/main" val="4105986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BC5072B8-DA27-494B-860F-3D387FC6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EFCD1823-2575-43BA-B483-C261572D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8860C952-40F5-4D2B-B4A4-62D75CAB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7CA23EC4-073F-4D04-A2F9-1871F678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LAYOUT 14 · CONSUMO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683FE9D-FABE-4C4F-AADA-4A669067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22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23491D0D-81B3-4CCB-9DC1-E89DC732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8093C5-57F9-455A-9262-2C05F29E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F5BAB5D-AF39-4426-B349-6B79B773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92562FF5-B09A-4BCD-A49B-76A21F5D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CONSUMO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CDD3ECF4-B368-40CB-A6F7-21B220D0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O produto preditivo termina onde a decisão começa</a:t>
            </a:r>
          </a:p>
        </p:txBody>
      </p:sp>
      <p:sp>
        <p:nvSpPr>
          <p:cNvPr id="11" name="consume-rule-0">
            <a:extLst xmlns:a="http://schemas.openxmlformats.org/drawingml/2006/main">
              <a:ext uri="{FF2B5EF4-FFF2-40B4-BE49-F238E27FC236}">
                <a16:creationId xmlns:a16="http://schemas.microsoft.com/office/drawing/2014/main" id="{53ED1717-CB94-4429-8AD4-735F5152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1612"/>
            </a:solidFill>
            <a:prstDash val="solid"/>
          </a:ln>
        </p:spPr>
      </p:sp>
      <p:sp>
        <p:nvSpPr>
          <p:cNvPr id="12" name="consume-title-0">
            <a:extLst xmlns:a="http://schemas.openxmlformats.org/drawingml/2006/main">
              <a:ext uri="{FF2B5EF4-FFF2-40B4-BE49-F238E27FC236}">
                <a16:creationId xmlns:a16="http://schemas.microsoft.com/office/drawing/2014/main" id="{15C8EE38-3109-47EB-8C2C-E9E095FA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1612"/>
                </a:solidFill>
              </a:defRPr>
            </a:pPr>
            <a:r>
              <a:rPr sz="900" b="1" i="0">
                <a:solidFill>
                  <a:srgbClr val="171612"/>
                </a:solidFill>
              </a:rPr>
              <a:t>QUEM</a:t>
            </a:r>
          </a:p>
        </p:txBody>
      </p:sp>
      <p:sp>
        <p:nvSpPr>
          <p:cNvPr id="13" name="consume-copy-0">
            <a:extLst xmlns:a="http://schemas.openxmlformats.org/drawingml/2006/main">
              <a:ext uri="{FF2B5EF4-FFF2-40B4-BE49-F238E27FC236}">
                <a16:creationId xmlns:a16="http://schemas.microsoft.com/office/drawing/2014/main" id="{E930F2EB-0C19-4A86-A066-C0313561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143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1612"/>
                </a:solidFill>
              </a:defRPr>
            </a:pPr>
            <a:r>
              <a:rPr sz="1725" b="0" i="0">
                <a:solidFill>
                  <a:srgbClr val="171612"/>
                </a:solidFill>
              </a:rPr>
              <a:t>Planejamento</a:t>
            </a:r>
          </a:p>
          <a:p xmlns:a="http://schemas.openxmlformats.org/drawingml/2006/main">
            <a:pPr algn="l">
              <a:defRPr sz="1725" b="0" i="0">
                <a:solidFill>
                  <a:srgbClr val="171612"/>
                </a:solidFill>
              </a:defRPr>
            </a:pPr>
            <a:r>
              <a:rPr sz="1725" b="0" i="0">
                <a:solidFill>
                  <a:srgbClr val="171612"/>
                </a:solidFill>
              </a:rPr>
              <a:t>Liderança</a:t>
            </a:r>
          </a:p>
          <a:p xmlns:a="http://schemas.openxmlformats.org/drawingml/2006/main">
            <a:pPr algn="l">
              <a:defRPr sz="1725" b="0" i="0">
                <a:solidFill>
                  <a:srgbClr val="171612"/>
                </a:solidFill>
              </a:defRPr>
            </a:pPr>
            <a:r>
              <a:rPr sz="1725" b="0" i="0">
                <a:solidFill>
                  <a:srgbClr val="171612"/>
                </a:solidFill>
              </a:rPr>
              <a:t>Ciência de Dados</a:t>
            </a:r>
          </a:p>
        </p:txBody>
      </p:sp>
      <p:sp>
        <p:nvSpPr>
          <p:cNvPr id="14" name="consume-rule-1">
            <a:extLst xmlns:a="http://schemas.openxmlformats.org/drawingml/2006/main">
              <a:ext uri="{FF2B5EF4-FFF2-40B4-BE49-F238E27FC236}">
                <a16:creationId xmlns:a16="http://schemas.microsoft.com/office/drawing/2014/main" id="{DAFC8332-B148-498D-B146-7AFFF766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622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43A2B"/>
            </a:solidFill>
            <a:prstDash val="solid"/>
          </a:ln>
        </p:spPr>
      </p:sp>
      <p:sp>
        <p:nvSpPr>
          <p:cNvPr id="15" name="consume-title-1">
            <a:extLst xmlns:a="http://schemas.openxmlformats.org/drawingml/2006/main">
              <a:ext uri="{FF2B5EF4-FFF2-40B4-BE49-F238E27FC236}">
                <a16:creationId xmlns:a16="http://schemas.microsoft.com/office/drawing/2014/main" id="{AFEC08FD-35C1-4DFA-8633-FFB9E20B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480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QUANDO</a:t>
            </a:r>
          </a:p>
        </p:txBody>
      </p:sp>
      <p:sp>
        <p:nvSpPr>
          <p:cNvPr id="16" name="consume-copy-1">
            <a:extLst xmlns:a="http://schemas.openxmlformats.org/drawingml/2006/main">
              <a:ext uri="{FF2B5EF4-FFF2-40B4-BE49-F238E27FC236}">
                <a16:creationId xmlns:a16="http://schemas.microsoft.com/office/drawing/2014/main" id="{7CA1FD49-67C2-4296-884E-93F449B3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38550"/>
            <a:ext cx="2143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1612"/>
                </a:solidFill>
              </a:defRPr>
            </a:pPr>
            <a:r>
              <a:rPr sz="1725" b="0" i="0">
                <a:solidFill>
                  <a:srgbClr val="171612"/>
                </a:solidFill>
              </a:rPr>
              <a:t>Diário</a:t>
            </a:r>
          </a:p>
          <a:p xmlns:a="http://schemas.openxmlformats.org/drawingml/2006/main">
            <a:pPr algn="l">
              <a:defRPr sz="1725" b="0" i="0">
                <a:solidFill>
                  <a:srgbClr val="171612"/>
                </a:solidFill>
              </a:defRPr>
            </a:pPr>
            <a:r>
              <a:rPr sz="1725" b="0" i="0">
                <a:solidFill>
                  <a:srgbClr val="171612"/>
                </a:solidFill>
              </a:rPr>
              <a:t>Semanal</a:t>
            </a:r>
          </a:p>
          <a:p xmlns:a="http://schemas.openxmlformats.org/drawingml/2006/main">
            <a:pPr algn="l">
              <a:defRPr sz="1725" b="0" i="0">
                <a:solidFill>
                  <a:srgbClr val="171612"/>
                </a:solidFill>
              </a:defRPr>
            </a:pPr>
            <a:r>
              <a:rPr sz="1725" b="0" i="0">
                <a:solidFill>
                  <a:srgbClr val="171612"/>
                </a:solidFill>
              </a:rPr>
              <a:t>Fechamento</a:t>
            </a:r>
          </a:p>
        </p:txBody>
      </p:sp>
      <p:sp>
        <p:nvSpPr>
          <p:cNvPr id="17" name="consume-rule-2">
            <a:extLst xmlns:a="http://schemas.openxmlformats.org/drawingml/2006/main">
              <a:ext uri="{FF2B5EF4-FFF2-40B4-BE49-F238E27FC236}">
                <a16:creationId xmlns:a16="http://schemas.microsoft.com/office/drawing/2014/main" id="{707DA0F6-F57F-4A17-9964-C201D0B3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3A329"/>
            </a:solidFill>
            <a:prstDash val="solid"/>
          </a:ln>
        </p:spPr>
      </p:sp>
      <p:sp>
        <p:nvSpPr>
          <p:cNvPr id="18" name="consume-title-2">
            <a:extLst xmlns:a="http://schemas.openxmlformats.org/drawingml/2006/main">
              <a:ext uri="{FF2B5EF4-FFF2-40B4-BE49-F238E27FC236}">
                <a16:creationId xmlns:a16="http://schemas.microsoft.com/office/drawing/2014/main" id="{4E4D03DC-F9E6-480D-B4A8-2E291848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480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3A329"/>
                </a:solidFill>
              </a:defRPr>
            </a:pPr>
            <a:r>
              <a:rPr sz="900" b="1" i="0">
                <a:solidFill>
                  <a:srgbClr val="D3A329"/>
                </a:solidFill>
              </a:rPr>
              <a:t>ONDE</a:t>
            </a:r>
          </a:p>
        </p:txBody>
      </p:sp>
      <p:sp>
        <p:nvSpPr>
          <p:cNvPr id="19" name="consume-copy-2">
            <a:extLst xmlns:a="http://schemas.openxmlformats.org/drawingml/2006/main">
              <a:ext uri="{FF2B5EF4-FFF2-40B4-BE49-F238E27FC236}">
                <a16:creationId xmlns:a16="http://schemas.microsoft.com/office/drawing/2014/main" id="{E2393CB5-D092-4AA1-B5EE-B9D02EE7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38550"/>
            <a:ext cx="2143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1612"/>
                </a:solidFill>
              </a:defRPr>
            </a:pPr>
            <a:r>
              <a:rPr sz="1725" b="0" i="0">
                <a:solidFill>
                  <a:srgbClr val="171612"/>
                </a:solidFill>
              </a:rPr>
              <a:t>Dashboard</a:t>
            </a:r>
          </a:p>
          <a:p xmlns:a="http://schemas.openxmlformats.org/drawingml/2006/main">
            <a:pPr algn="l">
              <a:defRPr sz="1725" b="0" i="0">
                <a:solidFill>
                  <a:srgbClr val="171612"/>
                </a:solidFill>
              </a:defRPr>
            </a:pPr>
            <a:r>
              <a:rPr sz="1725" b="0" i="0">
                <a:solidFill>
                  <a:srgbClr val="171612"/>
                </a:solidFill>
              </a:rPr>
              <a:t>Tabela</a:t>
            </a:r>
          </a:p>
          <a:p xmlns:a="http://schemas.openxmlformats.org/drawingml/2006/main">
            <a:pPr algn="l">
              <a:defRPr sz="1725" b="0" i="0">
                <a:solidFill>
                  <a:srgbClr val="171612"/>
                </a:solidFill>
              </a:defRPr>
            </a:pPr>
            <a:r>
              <a:rPr sz="1725" b="0" i="0">
                <a:solidFill>
                  <a:srgbClr val="171612"/>
                </a:solidFill>
              </a:rPr>
              <a:t>Alerta</a:t>
            </a:r>
          </a:p>
        </p:txBody>
      </p:sp>
      <p:sp>
        <p:nvSpPr>
          <p:cNvPr id="20" name="consume-rule-3">
            <a:extLst xmlns:a="http://schemas.openxmlformats.org/drawingml/2006/main">
              <a:ext uri="{FF2B5EF4-FFF2-40B4-BE49-F238E27FC236}">
                <a16:creationId xmlns:a16="http://schemas.microsoft.com/office/drawing/2014/main" id="{6137292B-C061-460B-BAF7-2BD387E2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622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6A54"/>
            </a:solidFill>
            <a:prstDash val="solid"/>
          </a:ln>
        </p:spPr>
      </p:sp>
      <p:sp>
        <p:nvSpPr>
          <p:cNvPr id="21" name="consume-title-3">
            <a:extLst xmlns:a="http://schemas.openxmlformats.org/drawingml/2006/main">
              <a:ext uri="{FF2B5EF4-FFF2-40B4-BE49-F238E27FC236}">
                <a16:creationId xmlns:a16="http://schemas.microsoft.com/office/drawing/2014/main" id="{7034B613-CB9A-4224-9ACA-6698A842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480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56A54"/>
                </a:solidFill>
              </a:defRPr>
            </a:pPr>
            <a:r>
              <a:rPr sz="900" b="1" i="0">
                <a:solidFill>
                  <a:srgbClr val="356A54"/>
                </a:solidFill>
              </a:rPr>
              <a:t>PARA QUÊ</a:t>
            </a:r>
          </a:p>
        </p:txBody>
      </p:sp>
      <p:sp>
        <p:nvSpPr>
          <p:cNvPr id="22" name="consume-copy-3">
            <a:extLst xmlns:a="http://schemas.openxmlformats.org/drawingml/2006/main">
              <a:ext uri="{FF2B5EF4-FFF2-40B4-BE49-F238E27FC236}">
                <a16:creationId xmlns:a16="http://schemas.microsoft.com/office/drawing/2014/main" id="{C809CDE0-5598-4D67-9CFB-A4EFAFF6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38550"/>
            <a:ext cx="2143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1612"/>
                </a:solidFill>
              </a:defRPr>
            </a:pPr>
            <a:r>
              <a:rPr sz="1725" b="0" i="0">
                <a:solidFill>
                  <a:srgbClr val="171612"/>
                </a:solidFill>
              </a:rPr>
              <a:t>Revisar meta</a:t>
            </a:r>
          </a:p>
          <a:p xmlns:a="http://schemas.openxmlformats.org/drawingml/2006/main">
            <a:pPr algn="l">
              <a:defRPr sz="1725" b="0" i="0">
                <a:solidFill>
                  <a:srgbClr val="171612"/>
                </a:solidFill>
              </a:defRPr>
            </a:pPr>
            <a:r>
              <a:rPr sz="1725" b="0" i="0">
                <a:solidFill>
                  <a:srgbClr val="171612"/>
                </a:solidFill>
              </a:rPr>
              <a:t>Antecipar desvio</a:t>
            </a:r>
          </a:p>
          <a:p xmlns:a="http://schemas.openxmlformats.org/drawingml/2006/main">
            <a:pPr algn="l">
              <a:defRPr sz="1725" b="0" i="0">
                <a:solidFill>
                  <a:srgbClr val="171612"/>
                </a:solidFill>
              </a:defRPr>
            </a:pPr>
            <a:r>
              <a:rPr sz="1725" b="0" i="0">
                <a:solidFill>
                  <a:srgbClr val="171612"/>
                </a:solidFill>
              </a:rPr>
              <a:t>Priorizar ação</a:t>
            </a:r>
          </a:p>
        </p:txBody>
      </p:sp>
      <p:sp>
        <p:nvSpPr>
          <p:cNvPr id="23" name="consume-feedback">
            <a:extLst xmlns:a="http://schemas.openxmlformats.org/drawingml/2006/main">
              <a:ext uri="{FF2B5EF4-FFF2-40B4-BE49-F238E27FC236}">
                <a16:creationId xmlns:a16="http://schemas.microsoft.com/office/drawing/2014/main" id="{D3AF98F6-10FA-4E83-9CA7-3D469A2B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43A2B"/>
                </a:solidFill>
              </a:defRPr>
            </a:pPr>
            <a:r>
              <a:rPr sz="975" b="1" i="0">
                <a:solidFill>
                  <a:srgbClr val="A43A2B"/>
                </a:solidFill>
              </a:rPr>
              <a:t>FEEDBACK DA DECISÃO  ↝  monitoramento  ↝  nova versão</a:t>
            </a:r>
          </a:p>
        </p:txBody>
      </p:sp>
    </p:spTree>
    <p:extLst>
      <p:ext uri="{BB962C8B-B14F-4D97-AF65-F5344CB8AC3E}">
        <p14:creationId xmlns:p14="http://schemas.microsoft.com/office/powerpoint/2010/main" val="198647880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7AEE3C7F-1859-4705-9D21-E1C6249A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A3A19069-5A4F-4BC7-AF91-887C3E5D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E60E4D64-E8A4-41BC-9BC8-6D1D86B8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87559D16-6086-4577-92CE-F02817E8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LAYOUT 15 · EVOLUÇÃO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499909C-634C-43CD-ACB4-12E1A065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23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A38219AF-A05B-4F7F-8BDB-5B303F9D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67DEE09-8B81-4151-8802-F2D16294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E963E50-FB6C-4D22-B817-15E8EBDC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C592FFB5-47E2-43AF-9734-B793ED2D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EVOLUÇÃO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B97360AB-65BE-446D-8C30-CD682DA4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O roadmap reduz risco antes de ampliar sofisticação</a:t>
            </a:r>
          </a:p>
        </p:txBody>
      </p:sp>
      <p:sp>
        <p:nvSpPr>
          <p:cNvPr id="11" name="roadmap-line">
            <a:extLst xmlns:a="http://schemas.openxmlformats.org/drawingml/2006/main">
              <a:ext uri="{FF2B5EF4-FFF2-40B4-BE49-F238E27FC236}">
                <a16:creationId xmlns:a16="http://schemas.microsoft.com/office/drawing/2014/main" id="{713AC960-CF0A-4327-8AC3-70C10E53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9D5C9"/>
            </a:solidFill>
            <a:prstDash val="solid"/>
          </a:ln>
        </p:spPr>
      </p:sp>
      <p:sp>
        <p:nvSpPr>
          <p:cNvPr id="12" name="road-circle-0">
            <a:extLst xmlns:a="http://schemas.openxmlformats.org/drawingml/2006/main">
              <a:ext uri="{FF2B5EF4-FFF2-40B4-BE49-F238E27FC236}">
                <a16:creationId xmlns:a16="http://schemas.microsoft.com/office/drawing/2014/main" id="{780C7D12-4353-4EF4-9AE2-C2CD4AF8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ad-num-0">
            <a:extLst xmlns:a="http://schemas.openxmlformats.org/drawingml/2006/main">
              <a:ext uri="{FF2B5EF4-FFF2-40B4-BE49-F238E27FC236}">
                <a16:creationId xmlns:a16="http://schemas.microsoft.com/office/drawing/2014/main" id="{288871E0-CCBF-4403-8541-7AB55CDD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781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EBDC"/>
                </a:solidFill>
              </a:defRPr>
            </a:pPr>
            <a:r>
              <a:rPr sz="900" b="1" i="0">
                <a:solidFill>
                  <a:srgbClr val="F1EBDC"/>
                </a:solidFill>
              </a:rPr>
              <a:t>01</a:t>
            </a:r>
          </a:p>
        </p:txBody>
      </p:sp>
      <p:sp>
        <p:nvSpPr>
          <p:cNvPr id="14" name="road-title-0">
            <a:extLst xmlns:a="http://schemas.openxmlformats.org/drawingml/2006/main">
              <a:ext uri="{FF2B5EF4-FFF2-40B4-BE49-F238E27FC236}">
                <a16:creationId xmlns:a16="http://schemas.microsoft.com/office/drawing/2014/main" id="{E7FD5818-D844-4304-99C4-548528AC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71612"/>
                </a:solidFill>
              </a:defRPr>
            </a:pPr>
            <a:r>
              <a:rPr sz="1800" b="0" i="0">
                <a:solidFill>
                  <a:srgbClr val="171612"/>
                </a:solidFill>
              </a:rPr>
              <a:t>Fundação</a:t>
            </a:r>
          </a:p>
        </p:txBody>
      </p:sp>
      <p:sp>
        <p:nvSpPr>
          <p:cNvPr id="15" name="road-copy-0">
            <a:extLst xmlns:a="http://schemas.openxmlformats.org/drawingml/2006/main">
              <a:ext uri="{FF2B5EF4-FFF2-40B4-BE49-F238E27FC236}">
                <a16:creationId xmlns:a16="http://schemas.microsoft.com/office/drawing/2014/main" id="{6DDAF4D2-BA5E-4FA4-867F-E5E2E889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2133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56057"/>
                </a:solidFill>
              </a:defRPr>
            </a:pPr>
            <a:r>
              <a:rPr sz="1275" b="0" i="0">
                <a:solidFill>
                  <a:srgbClr val="656057"/>
                </a:solidFill>
              </a:rPr>
              <a:t>qualidade e baseline</a:t>
            </a:r>
          </a:p>
        </p:txBody>
      </p:sp>
      <p:sp>
        <p:nvSpPr>
          <p:cNvPr id="16" name="road-circle-1">
            <a:extLst xmlns:a="http://schemas.openxmlformats.org/drawingml/2006/main">
              <a:ext uri="{FF2B5EF4-FFF2-40B4-BE49-F238E27FC236}">
                <a16:creationId xmlns:a16="http://schemas.microsoft.com/office/drawing/2014/main" id="{30040E84-C8A2-4C32-8B6D-79B6CF99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543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oad-num-1">
            <a:extLst xmlns:a="http://schemas.openxmlformats.org/drawingml/2006/main">
              <a:ext uri="{FF2B5EF4-FFF2-40B4-BE49-F238E27FC236}">
                <a16:creationId xmlns:a16="http://schemas.microsoft.com/office/drawing/2014/main" id="{8D6A8DA5-921F-424A-9DFD-5E16DFD8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81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EBDC"/>
                </a:solidFill>
              </a:defRPr>
            </a:pPr>
            <a:r>
              <a:rPr sz="900" b="1" i="0">
                <a:solidFill>
                  <a:srgbClr val="F1EBDC"/>
                </a:solidFill>
              </a:rPr>
              <a:t>02</a:t>
            </a:r>
          </a:p>
        </p:txBody>
      </p:sp>
      <p:sp>
        <p:nvSpPr>
          <p:cNvPr id="18" name="road-title-1">
            <a:extLst xmlns:a="http://schemas.openxmlformats.org/drawingml/2006/main">
              <a:ext uri="{FF2B5EF4-FFF2-40B4-BE49-F238E27FC236}">
                <a16:creationId xmlns:a16="http://schemas.microsoft.com/office/drawing/2014/main" id="{662DE489-D874-46F9-B94E-96D115A4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196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71612"/>
                </a:solidFill>
              </a:defRPr>
            </a:pPr>
            <a:r>
              <a:rPr sz="1800" b="0" i="0">
                <a:solidFill>
                  <a:srgbClr val="171612"/>
                </a:solidFill>
              </a:rPr>
              <a:t>Produto</a:t>
            </a:r>
          </a:p>
        </p:txBody>
      </p:sp>
      <p:sp>
        <p:nvSpPr>
          <p:cNvPr id="19" name="road-copy-1">
            <a:extLst xmlns:a="http://schemas.openxmlformats.org/drawingml/2006/main">
              <a:ext uri="{FF2B5EF4-FFF2-40B4-BE49-F238E27FC236}">
                <a16:creationId xmlns:a16="http://schemas.microsoft.com/office/drawing/2014/main" id="{DEE955C9-BF4B-4CE5-80D0-4022C5FE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095875"/>
            <a:ext cx="2133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56057"/>
                </a:solidFill>
              </a:defRPr>
            </a:pPr>
            <a:r>
              <a:rPr sz="1275" b="0" i="0">
                <a:solidFill>
                  <a:srgbClr val="656057"/>
                </a:solidFill>
              </a:rPr>
              <a:t>monitoramento e consumo</a:t>
            </a:r>
          </a:p>
        </p:txBody>
      </p:sp>
      <p:sp>
        <p:nvSpPr>
          <p:cNvPr id="20" name="road-circle-2">
            <a:extLst xmlns:a="http://schemas.openxmlformats.org/drawingml/2006/main">
              <a:ext uri="{FF2B5EF4-FFF2-40B4-BE49-F238E27FC236}">
                <a16:creationId xmlns:a16="http://schemas.microsoft.com/office/drawing/2014/main" id="{B454B083-96BA-469B-AF21-55E14598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oad-num-2">
            <a:extLst xmlns:a="http://schemas.openxmlformats.org/drawingml/2006/main">
              <a:ext uri="{FF2B5EF4-FFF2-40B4-BE49-F238E27FC236}">
                <a16:creationId xmlns:a16="http://schemas.microsoft.com/office/drawing/2014/main" id="{977F64AC-13C5-4961-8B3A-3DF12385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781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EBDC"/>
                </a:solidFill>
              </a:defRPr>
            </a:pPr>
            <a:r>
              <a:rPr sz="900" b="1" i="0">
                <a:solidFill>
                  <a:srgbClr val="F1EBDC"/>
                </a:solidFill>
              </a:rPr>
              <a:t>03</a:t>
            </a:r>
          </a:p>
        </p:txBody>
      </p:sp>
      <p:sp>
        <p:nvSpPr>
          <p:cNvPr id="22" name="road-title-2">
            <a:extLst xmlns:a="http://schemas.openxmlformats.org/drawingml/2006/main">
              <a:ext uri="{FF2B5EF4-FFF2-40B4-BE49-F238E27FC236}">
                <a16:creationId xmlns:a16="http://schemas.microsoft.com/office/drawing/2014/main" id="{28B4E360-71ED-4BA9-B121-3FC3FA56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71612"/>
                </a:solidFill>
              </a:defRPr>
            </a:pPr>
            <a:r>
              <a:rPr sz="1800" b="0" i="0">
                <a:solidFill>
                  <a:srgbClr val="171612"/>
                </a:solidFill>
              </a:rPr>
              <a:t>Escala</a:t>
            </a:r>
          </a:p>
        </p:txBody>
      </p:sp>
      <p:sp>
        <p:nvSpPr>
          <p:cNvPr id="23" name="road-copy-2">
            <a:extLst xmlns:a="http://schemas.openxmlformats.org/drawingml/2006/main">
              <a:ext uri="{FF2B5EF4-FFF2-40B4-BE49-F238E27FC236}">
                <a16:creationId xmlns:a16="http://schemas.microsoft.com/office/drawing/2014/main" id="{164E5F54-3D43-446A-BD92-50C23FD9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95875"/>
            <a:ext cx="2133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56057"/>
                </a:solidFill>
              </a:defRPr>
            </a:pPr>
            <a:r>
              <a:rPr sz="1275" b="0" i="0">
                <a:solidFill>
                  <a:srgbClr val="656057"/>
                </a:solidFill>
              </a:rPr>
              <a:t>hierarquia e seleção dinâmica</a:t>
            </a:r>
          </a:p>
        </p:txBody>
      </p:sp>
      <p:sp>
        <p:nvSpPr>
          <p:cNvPr id="24" name="road-circle-3">
            <a:extLst xmlns:a="http://schemas.openxmlformats.org/drawingml/2006/main">
              <a:ext uri="{FF2B5EF4-FFF2-40B4-BE49-F238E27FC236}">
                <a16:creationId xmlns:a16="http://schemas.microsoft.com/office/drawing/2014/main" id="{AAE7582B-2459-4C08-9C77-716E9684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543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oad-num-3">
            <a:extLst xmlns:a="http://schemas.openxmlformats.org/drawingml/2006/main">
              <a:ext uri="{FF2B5EF4-FFF2-40B4-BE49-F238E27FC236}">
                <a16:creationId xmlns:a16="http://schemas.microsoft.com/office/drawing/2014/main" id="{E645CC41-E8E6-4F97-ACA8-6F1F067F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81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1EBDC"/>
                </a:solidFill>
              </a:defRPr>
            </a:pPr>
            <a:r>
              <a:rPr sz="900" b="1" i="0">
                <a:solidFill>
                  <a:srgbClr val="F1EBDC"/>
                </a:solidFill>
              </a:rPr>
              <a:t>04</a:t>
            </a:r>
          </a:p>
        </p:txBody>
      </p:sp>
      <p:sp>
        <p:nvSpPr>
          <p:cNvPr id="26" name="road-title-3">
            <a:extLst xmlns:a="http://schemas.openxmlformats.org/drawingml/2006/main">
              <a:ext uri="{FF2B5EF4-FFF2-40B4-BE49-F238E27FC236}">
                <a16:creationId xmlns:a16="http://schemas.microsoft.com/office/drawing/2014/main" id="{B85FF0E8-058D-4AF8-B648-B2A00B8F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6196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71612"/>
                </a:solidFill>
              </a:defRPr>
            </a:pPr>
            <a:r>
              <a:rPr sz="1800" b="0" i="0">
                <a:solidFill>
                  <a:srgbClr val="171612"/>
                </a:solidFill>
              </a:rPr>
              <a:t>GenAI</a:t>
            </a:r>
          </a:p>
        </p:txBody>
      </p:sp>
      <p:sp>
        <p:nvSpPr>
          <p:cNvPr id="27" name="road-copy-3">
            <a:extLst xmlns:a="http://schemas.openxmlformats.org/drawingml/2006/main">
              <a:ext uri="{FF2B5EF4-FFF2-40B4-BE49-F238E27FC236}">
                <a16:creationId xmlns:a16="http://schemas.microsoft.com/office/drawing/2014/main" id="{EB31B57D-34F3-4E1F-BAA7-082137B0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095875"/>
            <a:ext cx="2133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56057"/>
                </a:solidFill>
              </a:defRPr>
            </a:pPr>
            <a:r>
              <a:rPr sz="1275" b="0" i="0">
                <a:solidFill>
                  <a:srgbClr val="656057"/>
                </a:solidFill>
              </a:rPr>
              <a:t>narrativa e copiloto</a:t>
            </a:r>
          </a:p>
        </p:txBody>
      </p:sp>
      <p:sp>
        <p:nvSpPr>
          <p:cNvPr id="28" name="genai-guardrail">
            <a:extLst xmlns:a="http://schemas.openxmlformats.org/drawingml/2006/main">
              <a:ext uri="{FF2B5EF4-FFF2-40B4-BE49-F238E27FC236}">
                <a16:creationId xmlns:a16="http://schemas.microsoft.com/office/drawing/2014/main" id="{FBC9BEED-67CD-4210-AAD9-542F4773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GenAI comunica e acelera; o forecast continua governado por dados, métricas e versionamento.</a:t>
            </a:r>
          </a:p>
        </p:txBody>
      </p:sp>
    </p:spTree>
    <p:extLst>
      <p:ext uri="{BB962C8B-B14F-4D97-AF65-F5344CB8AC3E}">
        <p14:creationId xmlns:p14="http://schemas.microsoft.com/office/powerpoint/2010/main" val="46938084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8DBE89C2-A5F3-4479-998D-340D0AA7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1140A62B-901E-4EFB-AD0D-553DBCA9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C504C454-1E9B-4CC9-8E3D-E6A8E04D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3864B2F9-9944-44B6-9C67-F27669DE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LAYOUT 16 · ENCERRAMENTO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32D5991-C8FA-4FEB-9280-7FB3E73F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24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A24B920D-B4A4-410E-B6B3-7C4DDB15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934A97B-4CDE-46D2-ACAB-09C7D95A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0410478-82F8-486E-9272-757030B6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7141749C-9276-41BE-A33C-E3B7E592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SÍNTESE</a:t>
            </a:r>
          </a:p>
        </p:txBody>
      </p:sp>
      <p:sp>
        <p:nvSpPr>
          <p:cNvPr id="10" name="close-title">
            <a:extLst xmlns:a="http://schemas.openxmlformats.org/drawingml/2006/main">
              <a:ext uri="{FF2B5EF4-FFF2-40B4-BE49-F238E27FC236}">
                <a16:creationId xmlns:a16="http://schemas.microsoft.com/office/drawing/2014/main" id="{697C2AAD-81FA-48FD-A693-C525E11C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71612"/>
                </a:solidFill>
              </a:defRPr>
            </a:pPr>
            <a:r>
              <a:rPr sz="3900" b="0" i="0">
                <a:solidFill>
                  <a:srgbClr val="171612"/>
                </a:solidFill>
              </a:rPr>
              <a:t>Prever é reduzir</a:t>
            </a:r>
          </a:p>
          <a:p xmlns:a="http://schemas.openxmlformats.org/drawingml/2006/main">
            <a:pPr algn="l">
              <a:defRPr sz="3900" b="0" i="0">
                <a:solidFill>
                  <a:srgbClr val="171612"/>
                </a:solidFill>
              </a:defRPr>
            </a:pPr>
            <a:r>
              <a:rPr sz="3900" b="0" i="0">
                <a:solidFill>
                  <a:srgbClr val="171612"/>
                </a:solidFill>
              </a:rPr>
              <a:t>o tempo entre sinal</a:t>
            </a:r>
          </a:p>
          <a:p xmlns:a="http://schemas.openxmlformats.org/drawingml/2006/main">
            <a:pPr algn="l">
              <a:defRPr sz="3900" b="0" i="0">
                <a:solidFill>
                  <a:srgbClr val="171612"/>
                </a:solidFill>
              </a:defRPr>
            </a:pPr>
            <a:r>
              <a:rPr sz="3900" b="0" i="0">
                <a:solidFill>
                  <a:srgbClr val="171612"/>
                </a:solidFill>
              </a:rPr>
              <a:t>e decisão</a:t>
            </a:r>
          </a:p>
        </p:txBody>
      </p:sp>
      <p:sp>
        <p:nvSpPr>
          <p:cNvPr id="11" name="close-copy">
            <a:extLst xmlns:a="http://schemas.openxmlformats.org/drawingml/2006/main">
              <a:ext uri="{FF2B5EF4-FFF2-40B4-BE49-F238E27FC236}">
                <a16:creationId xmlns:a16="http://schemas.microsoft.com/office/drawing/2014/main" id="{FC5357C1-DF7F-46EA-8EEF-EC2A7840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56057"/>
                </a:solidFill>
              </a:defRPr>
            </a:pPr>
            <a:r>
              <a:rPr sz="1650" b="0" i="0">
                <a:solidFill>
                  <a:srgbClr val="656057"/>
                </a:solidFill>
              </a:rPr>
              <a:t>O valor não está apenas no menor erro, mas na capacidade de antecipar, explicar e incorporar feedback.</a:t>
            </a:r>
          </a:p>
        </p:txBody>
      </p:sp>
      <p:sp>
        <p:nvSpPr>
          <p:cNvPr id="12" name="close-mark">
            <a:extLst xmlns:a="http://schemas.openxmlformats.org/drawingml/2006/main">
              <a:ext uri="{FF2B5EF4-FFF2-40B4-BE49-F238E27FC236}">
                <a16:creationId xmlns:a16="http://schemas.microsoft.com/office/drawing/2014/main" id="{610981F2-161A-4A99-AD43-A6731C9F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62125"/>
            <a:ext cx="22383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e-mark-text">
            <a:extLst xmlns:a="http://schemas.openxmlformats.org/drawingml/2006/main">
              <a:ext uri="{FF2B5EF4-FFF2-40B4-BE49-F238E27FC236}">
                <a16:creationId xmlns:a16="http://schemas.microsoft.com/office/drawing/2014/main" id="{4B0BFFED-0477-4997-8643-91F5AF57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157162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F1EBDC"/>
                </a:solidFill>
              </a:defRPr>
            </a:pPr>
            <a:r>
              <a:rPr sz="2325" b="0" i="0">
                <a:solidFill>
                  <a:srgbClr val="F1EBDC"/>
                </a:solidFill>
              </a:rPr>
              <a:t>C1D</a:t>
            </a:r>
          </a:p>
          <a:p xmlns:a="http://schemas.openxmlformats.org/drawingml/2006/main">
            <a:pPr algn="ctr">
              <a:defRPr sz="2325" b="0" i="0">
                <a:solidFill>
                  <a:srgbClr val="F1EBDC"/>
                </a:solidFill>
              </a:defRPr>
            </a:pPr>
            <a:r>
              <a:rPr sz="2325" b="0" i="0">
                <a:solidFill>
                  <a:srgbClr val="F1EBDC"/>
                </a:solidFill>
              </a:rPr>
              <a:t>»</a:t>
            </a:r>
          </a:p>
          <a:p xmlns:a="http://schemas.openxmlformats.org/drawingml/2006/main">
            <a:pPr algn="ctr">
              <a:defRPr sz="2325" b="0" i="0">
                <a:solidFill>
                  <a:srgbClr val="F1EBDC"/>
                </a:solidFill>
              </a:defRPr>
            </a:pPr>
            <a:r>
              <a:rPr sz="2325" b="0" i="0">
                <a:solidFill>
                  <a:srgbClr val="F1EBDC"/>
                </a:solidFill>
              </a:rPr>
              <a:t>ForecastLab</a:t>
            </a:r>
          </a:p>
        </p:txBody>
      </p:sp>
    </p:spTree>
    <p:extLst>
      <p:ext uri="{BB962C8B-B14F-4D97-AF65-F5344CB8AC3E}">
        <p14:creationId xmlns:p14="http://schemas.microsoft.com/office/powerpoint/2010/main" val="38513791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1EB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3BF9BE71-BF16-4B01-B548-83FE0F41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612"/>
                </a:solidFill>
              </a:defRPr>
            </a:pPr>
            <a:r>
              <a:rPr sz="2100" b="0" i="0">
                <a:solidFill>
                  <a:srgbClr val="171612"/>
                </a:solidFill>
              </a:rPr>
              <a:t>C1D</a:t>
            </a:r>
          </a:p>
        </p:txBody>
      </p:sp>
      <p:sp>
        <p:nvSpPr>
          <p:cNvPr id="2" name="brand-arrow">
            <a:extLst xmlns:a="http://schemas.openxmlformats.org/drawingml/2006/main">
              <a:ext uri="{FF2B5EF4-FFF2-40B4-BE49-F238E27FC236}">
                <a16:creationId xmlns:a16="http://schemas.microsoft.com/office/drawing/2014/main" id="{6336094A-732A-4DB7-B001-33511AE7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3A2B"/>
                </a:solidFill>
              </a:defRPr>
            </a:pPr>
            <a:r>
              <a:rPr sz="1500" b="1" i="0">
                <a:solidFill>
                  <a:srgbClr val="A43A2B"/>
                </a:solidFill>
              </a:rPr>
              <a:t>»</a:t>
            </a:r>
          </a:p>
        </p:txBody>
      </p:sp>
      <p:sp>
        <p:nvSpPr>
          <p:cNvPr id="3" name="brand-lab">
            <a:extLst xmlns:a="http://schemas.openxmlformats.org/drawingml/2006/main">
              <a:ext uri="{FF2B5EF4-FFF2-40B4-BE49-F238E27FC236}">
                <a16:creationId xmlns:a16="http://schemas.microsoft.com/office/drawing/2014/main" id="{0683A353-214D-4C5A-999A-239C6851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43A2B"/>
                </a:solidFill>
              </a:defRPr>
            </a:pPr>
            <a:r>
              <a:rPr sz="1050" b="1" i="0">
                <a:solidFill>
                  <a:srgbClr val="A43A2B"/>
                </a:solidFill>
              </a:rPr>
              <a:t>ForecastLab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96501826-C110-4A43-ADE7-3AF1B459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6057"/>
                </a:solidFill>
              </a:defRPr>
            </a:pPr>
            <a:r>
              <a:rPr sz="825" b="1" i="0">
                <a:solidFill>
                  <a:srgbClr val="656057"/>
                </a:solidFill>
              </a:rPr>
              <a:t>MANUAL · COMPONENTES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698E96D-BBE9-4CDC-981C-968C45C1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25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5B1272A2-A6C3-44AA-931A-B839EE0E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AA92984-5567-4F7E-BC55-6ECDC660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F4D1F6A-351B-485D-8C15-9AE74DD3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56057"/>
                </a:solidFill>
              </a:defRPr>
            </a:pPr>
            <a:r>
              <a:rPr sz="750" b="0" i="0">
                <a:solidFill>
                  <a:srgbClr val="656057"/>
                </a:solidFill>
              </a:rPr>
              <a:t>Objetos, textos e gráficos permanecem editáveis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9A9BFD46-ADD7-4199-A989-422DC644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BIBLIOTECA RÁPIDA</a:t>
            </a:r>
          </a:p>
        </p:txBody>
      </p:sp>
      <p:sp>
        <p:nvSpPr>
          <p:cNvPr id="10" name="headline">
            <a:extLst xmlns:a="http://schemas.openxmlformats.org/drawingml/2006/main">
              <a:ext uri="{FF2B5EF4-FFF2-40B4-BE49-F238E27FC236}">
                <a16:creationId xmlns:a16="http://schemas.microsoft.com/office/drawing/2014/main" id="{D45A2B31-3FD0-4F84-8BEC-4FF71D3D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95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71612"/>
                </a:solidFill>
              </a:defRPr>
            </a:pPr>
            <a:r>
              <a:rPr sz="3000" b="0" i="0">
                <a:solidFill>
                  <a:srgbClr val="171612"/>
                </a:solidFill>
              </a:rPr>
              <a:t>Copie componentes; preserve a gramática</a:t>
            </a:r>
          </a:p>
        </p:txBody>
      </p:sp>
      <p:sp>
        <p:nvSpPr>
          <p:cNvPr id="11" name="metric-rule-72">
            <a:extLst xmlns:a="http://schemas.openxmlformats.org/drawingml/2006/main">
              <a:ext uri="{FF2B5EF4-FFF2-40B4-BE49-F238E27FC236}">
                <a16:creationId xmlns:a16="http://schemas.microsoft.com/office/drawing/2014/main" id="{B2ABC244-D4AA-4598-AD9F-6591B70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612"/>
            </a:solidFill>
            <a:prstDash val="solid"/>
          </a:ln>
        </p:spPr>
      </p:sp>
      <p:sp>
        <p:nvSpPr>
          <p:cNvPr id="12" name="metric-value-72">
            <a:extLst xmlns:a="http://schemas.openxmlformats.org/drawingml/2006/main">
              <a:ext uri="{FF2B5EF4-FFF2-40B4-BE49-F238E27FC236}">
                <a16:creationId xmlns:a16="http://schemas.microsoft.com/office/drawing/2014/main" id="{F5151DBA-1B90-461D-B9EA-C62C4955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A43A2B"/>
                </a:solidFill>
              </a:defRPr>
            </a:pPr>
            <a:r>
              <a:rPr sz="2550" b="0" i="0">
                <a:solidFill>
                  <a:srgbClr val="A43A2B"/>
                </a:solidFill>
              </a:rPr>
              <a:t>7,8%</a:t>
            </a:r>
          </a:p>
        </p:txBody>
      </p:sp>
      <p:sp>
        <p:nvSpPr>
          <p:cNvPr id="13" name="metric-caption-72">
            <a:extLst xmlns:a="http://schemas.openxmlformats.org/drawingml/2006/main">
              <a:ext uri="{FF2B5EF4-FFF2-40B4-BE49-F238E27FC236}">
                <a16:creationId xmlns:a16="http://schemas.microsoft.com/office/drawing/2014/main" id="{28D8B9F4-C5DF-4F00-9F5B-76082BE1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6057"/>
                </a:solidFill>
              </a:defRPr>
            </a:pPr>
            <a:r>
              <a:rPr sz="900" b="1" i="0">
                <a:solidFill>
                  <a:srgbClr val="656057"/>
                </a:solidFill>
              </a:rPr>
              <a:t>MÉTRICA</a:t>
            </a:r>
          </a:p>
        </p:txBody>
      </p:sp>
      <p:sp>
        <p:nvSpPr>
          <p:cNvPr id="14" name="component-callout">
            <a:extLst xmlns:a="http://schemas.openxmlformats.org/drawingml/2006/main">
              <a:ext uri="{FF2B5EF4-FFF2-40B4-BE49-F238E27FC236}">
                <a16:creationId xmlns:a16="http://schemas.microsoft.com/office/drawing/2014/main" id="{9E86FC77-F36B-42E0-A60A-4C83AADF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28875"/>
            <a:ext cx="3333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mponent-callout-text">
            <a:extLst xmlns:a="http://schemas.openxmlformats.org/drawingml/2006/main">
              <a:ext uri="{FF2B5EF4-FFF2-40B4-BE49-F238E27FC236}">
                <a16:creationId xmlns:a16="http://schemas.microsoft.com/office/drawing/2014/main" id="{377236C4-E6F2-4A02-A866-64435BCE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241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F1EBDC"/>
                </a:solidFill>
              </a:defRPr>
            </a:pPr>
            <a:r>
              <a:rPr sz="1650" b="0" i="0">
                <a:solidFill>
                  <a:srgbClr val="F1EBDC"/>
                </a:solidFill>
              </a:rPr>
              <a:t>A evidência muda a decisão quando chega com contexto.</a:t>
            </a:r>
          </a:p>
        </p:txBody>
      </p:sp>
      <p:sp>
        <p:nvSpPr>
          <p:cNvPr id="16" name="component-label">
            <a:extLst xmlns:a="http://schemas.openxmlformats.org/drawingml/2006/main">
              <a:ext uri="{FF2B5EF4-FFF2-40B4-BE49-F238E27FC236}">
                <a16:creationId xmlns:a16="http://schemas.microsoft.com/office/drawing/2014/main" id="{13370B84-089B-485F-A487-8F9D6DCE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43A2B"/>
                </a:solidFill>
              </a:defRPr>
            </a:pPr>
            <a:r>
              <a:rPr sz="900" b="1" i="0">
                <a:solidFill>
                  <a:srgbClr val="A43A2B"/>
                </a:solidFill>
              </a:rPr>
              <a:t>MÉTODO · CUTOFF 2026-06-30</a:t>
            </a:r>
          </a:p>
        </p:txBody>
      </p:sp>
      <p:sp>
        <p:nvSpPr>
          <p:cNvPr id="17" name="component-rule">
            <a:extLst xmlns:a="http://schemas.openxmlformats.org/drawingml/2006/main">
              <a:ext uri="{FF2B5EF4-FFF2-40B4-BE49-F238E27FC236}">
                <a16:creationId xmlns:a16="http://schemas.microsoft.com/office/drawing/2014/main" id="{902B249D-521D-4B79-9DD2-30946BF7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612"/>
            </a:solidFill>
            <a:prstDash val="solid"/>
          </a:ln>
        </p:spPr>
      </p:sp>
      <p:sp>
        <p:nvSpPr>
          <p:cNvPr id="18" name="component-body">
            <a:extLst xmlns:a="http://schemas.openxmlformats.org/drawingml/2006/main">
              <a:ext uri="{FF2B5EF4-FFF2-40B4-BE49-F238E27FC236}">
                <a16:creationId xmlns:a16="http://schemas.microsoft.com/office/drawing/2014/main" id="{A1A0097A-20D8-4C8F-B976-A0D85C25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9090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56057"/>
                </a:solidFill>
              </a:defRPr>
            </a:pPr>
            <a:r>
              <a:rPr sz="1500" b="0" i="0">
                <a:solidFill>
                  <a:srgbClr val="656057"/>
                </a:solidFill>
              </a:rPr>
              <a:t>Título conclusivo</a:t>
            </a:r>
          </a:p>
          <a:p xmlns:a="http://schemas.openxmlformats.org/drawingml/2006/main">
            <a:pPr algn="l">
              <a:defRPr sz="1500" b="0" i="0">
                <a:solidFill>
                  <a:srgbClr val="656057"/>
                </a:solidFill>
              </a:defRPr>
            </a:pPr>
            <a:r>
              <a:rPr sz="1500" b="0" i="0">
                <a:solidFill>
                  <a:srgbClr val="656057"/>
                </a:solidFill>
              </a:rPr>
              <a:t>Corpo curto</a:t>
            </a:r>
          </a:p>
          <a:p xmlns:a="http://schemas.openxmlformats.org/drawingml/2006/main">
            <a:pPr algn="l">
              <a:defRPr sz="1500" b="0" i="0">
                <a:solidFill>
                  <a:srgbClr val="656057"/>
                </a:solidFill>
              </a:defRPr>
            </a:pPr>
            <a:r>
              <a:rPr sz="1500" b="0" i="0">
                <a:solidFill>
                  <a:srgbClr val="656057"/>
                </a:solidFill>
              </a:rPr>
              <a:t>Fonte no rodapé</a:t>
            </a:r>
          </a:p>
        </p:txBody>
      </p:sp>
      <p:sp>
        <p:nvSpPr>
          <p:cNvPr id="19" name="component-placeholder">
            <a:extLst xmlns:a="http://schemas.openxmlformats.org/drawingml/2006/main">
              <a:ext uri="{FF2B5EF4-FFF2-40B4-BE49-F238E27FC236}">
                <a16:creationId xmlns:a16="http://schemas.microsoft.com/office/drawing/2014/main" id="{B13EB5C5-E1E4-4A8F-B659-77706618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077450" cy="1095375"/>
          </a:xfrm>
          <a:prstGeom xmlns:a="http://schemas.openxmlformats.org/drawingml/2006/main" prst="roundRect">
            <a:avLst>
              <a:gd name="adj" fmla="val 69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A43A2B"/>
            </a:solidFill>
            <a:prstDash val="solid"/>
          </a:ln>
        </p:spPr>
      </p:sp>
      <p:sp>
        <p:nvSpPr>
          <p:cNvPr id="20" name="component-placeholder-text">
            <a:extLst xmlns:a="http://schemas.openxmlformats.org/drawingml/2006/main">
              <a:ext uri="{FF2B5EF4-FFF2-40B4-BE49-F238E27FC236}">
                <a16:creationId xmlns:a16="http://schemas.microsoft.com/office/drawing/2014/main" id="{213FB6B8-5ACF-4EDF-9150-81D22FE8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72050"/>
            <a:ext cx="947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43A2B"/>
                </a:solidFill>
              </a:defRPr>
            </a:pPr>
            <a:r>
              <a:rPr sz="975" b="1" i="0">
                <a:solidFill>
                  <a:srgbClr val="A43A2B"/>
                </a:solidFill>
              </a:rPr>
              <a:t>AJUSTAR  ·  Inserir evidência final, período e fonte</a:t>
            </a:r>
          </a:p>
        </p:txBody>
      </p:sp>
    </p:spTree>
    <p:extLst>
      <p:ext uri="{BB962C8B-B14F-4D97-AF65-F5344CB8AC3E}">
        <p14:creationId xmlns:p14="http://schemas.microsoft.com/office/powerpoint/2010/main" val="519628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2026-07-30T07:23:01.0570000Z</dcterms:created>
  <dcterms:modified xsi:type="dcterms:W3CDTF">2026-07-30T07:23:01.0570000Z</dcterms:modified>
</coreProperties>
</file>